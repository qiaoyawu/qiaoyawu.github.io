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</p:sldIdLst>
  <p:sldSz cx="7556500" cy="10693400"/>
  <p:notesSz cx="7556500" cy="10693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36159" y="1496375"/>
            <a:ext cx="1623060" cy="10350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3495">
              <a:lnSpc>
                <a:spcPct val="100000"/>
              </a:lnSpc>
              <a:spcBef>
                <a:spcPts val="135"/>
              </a:spcBef>
            </a:pPr>
            <a:r>
              <a:rPr dirty="0" sz="1400" spc="95" b="1">
                <a:latin typeface="Times New Roman"/>
                <a:cs typeface="Times New Roman"/>
              </a:rPr>
              <a:t>Curriculum</a:t>
            </a:r>
            <a:r>
              <a:rPr dirty="0" sz="1400" spc="130" b="1">
                <a:latin typeface="Times New Roman"/>
                <a:cs typeface="Times New Roman"/>
              </a:rPr>
              <a:t> </a:t>
            </a:r>
            <a:r>
              <a:rPr dirty="0" sz="1400" spc="120" b="1">
                <a:latin typeface="Times New Roman"/>
                <a:cs typeface="Times New Roman"/>
              </a:rPr>
              <a:t>Vitae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650">
              <a:latin typeface="Times New Roman"/>
              <a:cs typeface="Times New Roman"/>
            </a:endParaRPr>
          </a:p>
          <a:p>
            <a:pPr marL="634365">
              <a:lnSpc>
                <a:spcPts val="1664"/>
              </a:lnSpc>
            </a:pPr>
            <a:r>
              <a:rPr dirty="0" sz="1400" spc="130" b="1">
                <a:latin typeface="Times New Roman"/>
                <a:cs typeface="Times New Roman"/>
              </a:rPr>
              <a:t>W</a:t>
            </a:r>
            <a:r>
              <a:rPr dirty="0" sz="1400" spc="95" b="1">
                <a:latin typeface="Times New Roman"/>
                <a:cs typeface="Times New Roman"/>
              </a:rPr>
              <a:t>u,Qia</a:t>
            </a:r>
            <a:r>
              <a:rPr dirty="0" sz="1400" spc="55" b="1">
                <a:latin typeface="Times New Roman"/>
                <a:cs typeface="Times New Roman"/>
              </a:rPr>
              <a:t>o</a:t>
            </a:r>
            <a:r>
              <a:rPr dirty="0" sz="1400" spc="105" b="1">
                <a:latin typeface="Times New Roman"/>
                <a:cs typeface="Times New Roman"/>
              </a:rPr>
              <a:t>y</a:t>
            </a:r>
            <a:r>
              <a:rPr dirty="0" sz="1400" spc="80" b="1">
                <a:latin typeface="Times New Roman"/>
                <a:cs typeface="Times New Roman"/>
              </a:rPr>
              <a:t>a</a:t>
            </a:r>
            <a:endParaRPr sz="1400">
              <a:latin typeface="Times New Roman"/>
              <a:cs typeface="Times New Roman"/>
            </a:endParaRPr>
          </a:p>
          <a:p>
            <a:pPr marL="12700" marR="5080" indent="463550">
              <a:lnSpc>
                <a:spcPts val="1350"/>
              </a:lnSpc>
              <a:spcBef>
                <a:spcPts val="10"/>
              </a:spcBef>
            </a:pPr>
            <a:r>
              <a:rPr dirty="0" sz="1100" spc="30">
                <a:latin typeface="Times New Roman"/>
                <a:cs typeface="Times New Roman"/>
              </a:rPr>
              <a:t>Xiamen </a:t>
            </a:r>
            <a:r>
              <a:rPr dirty="0" sz="1100" spc="20">
                <a:latin typeface="Times New Roman"/>
                <a:cs typeface="Times New Roman"/>
              </a:rPr>
              <a:t>University  </a:t>
            </a:r>
            <a:r>
              <a:rPr dirty="0" sz="1100" spc="50">
                <a:latin typeface="Times New Roman"/>
                <a:cs typeface="Times New Roman"/>
              </a:rPr>
              <a:t>Department </a:t>
            </a:r>
            <a:r>
              <a:rPr dirty="0" sz="1100" spc="-20">
                <a:latin typeface="Times New Roman"/>
                <a:cs typeface="Times New Roman"/>
              </a:rPr>
              <a:t>of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30">
                <a:latin typeface="Times New Roman"/>
                <a:cs typeface="Times New Roman"/>
              </a:rPr>
              <a:t>Astronomy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2673692"/>
            <a:ext cx="18961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00" b="1">
                <a:latin typeface="Times New Roman"/>
                <a:cs typeface="Times New Roman"/>
              </a:rPr>
              <a:t>AWARDS </a:t>
            </a:r>
            <a:r>
              <a:rPr dirty="0" sz="1100" spc="165" b="1">
                <a:latin typeface="Times New Roman"/>
                <a:cs typeface="Times New Roman"/>
              </a:rPr>
              <a:t>AND</a:t>
            </a:r>
            <a:r>
              <a:rPr dirty="0" sz="1100" spc="140" b="1">
                <a:latin typeface="Times New Roman"/>
                <a:cs typeface="Times New Roman"/>
              </a:rPr>
              <a:t> </a:t>
            </a:r>
            <a:r>
              <a:rPr dirty="0" sz="1100" spc="114" b="1">
                <a:latin typeface="Times New Roman"/>
                <a:cs typeface="Times New Roman"/>
              </a:rPr>
              <a:t>HONORS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14400" y="2903385"/>
            <a:ext cx="5731510" cy="0"/>
          </a:xfrm>
          <a:custGeom>
            <a:avLst/>
            <a:gdLst/>
            <a:ahLst/>
            <a:cxnLst/>
            <a:rect l="l" t="t" r="r" b="b"/>
            <a:pathLst>
              <a:path w="5731509" h="0">
                <a:moveTo>
                  <a:pt x="0" y="0"/>
                </a:moveTo>
                <a:lnTo>
                  <a:pt x="5731205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037770" y="2936911"/>
            <a:ext cx="62103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35" i="1">
                <a:latin typeface="Times New Roman"/>
                <a:cs typeface="Times New Roman"/>
              </a:rPr>
              <a:t>May</a:t>
            </a:r>
            <a:r>
              <a:rPr dirty="0" sz="1100" spc="45" i="1">
                <a:latin typeface="Times New Roman"/>
                <a:cs typeface="Times New Roman"/>
              </a:rPr>
              <a:t> </a:t>
            </a:r>
            <a:r>
              <a:rPr dirty="0" sz="1100" spc="5" i="1">
                <a:latin typeface="Times New Roman"/>
                <a:cs typeface="Times New Roman"/>
              </a:rPr>
              <a:t>2018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09510" y="2936911"/>
            <a:ext cx="4685030" cy="708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73990" indent="-161925">
              <a:lnSpc>
                <a:spcPct val="100000"/>
              </a:lnSpc>
              <a:spcBef>
                <a:spcPts val="90"/>
              </a:spcBef>
              <a:buFont typeface="Arial"/>
              <a:buChar char="•"/>
              <a:tabLst>
                <a:tab pos="174625" algn="l"/>
              </a:tabLst>
            </a:pPr>
            <a:r>
              <a:rPr dirty="0" sz="1100" spc="15">
                <a:latin typeface="Times New Roman"/>
                <a:cs typeface="Times New Roman"/>
              </a:rPr>
              <a:t>Second </a:t>
            </a:r>
            <a:r>
              <a:rPr dirty="0" sz="1100" spc="35">
                <a:latin typeface="Times New Roman"/>
                <a:cs typeface="Times New Roman"/>
              </a:rPr>
              <a:t>Prize </a:t>
            </a:r>
            <a:r>
              <a:rPr dirty="0" sz="1100" spc="-20">
                <a:latin typeface="Times New Roman"/>
                <a:cs typeface="Times New Roman"/>
              </a:rPr>
              <a:t>of </a:t>
            </a:r>
            <a:r>
              <a:rPr dirty="0" sz="1100" spc="35">
                <a:latin typeface="Times New Roman"/>
                <a:cs typeface="Times New Roman"/>
              </a:rPr>
              <a:t>Guangqi </a:t>
            </a:r>
            <a:r>
              <a:rPr dirty="0" sz="1100" spc="20">
                <a:latin typeface="Times New Roman"/>
                <a:cs typeface="Times New Roman"/>
              </a:rPr>
              <a:t>Scholarship, </a:t>
            </a:r>
            <a:r>
              <a:rPr dirty="0" sz="1100" spc="30">
                <a:latin typeface="Times New Roman"/>
                <a:cs typeface="Times New Roman"/>
              </a:rPr>
              <a:t>Shanghai </a:t>
            </a:r>
            <a:r>
              <a:rPr dirty="0" sz="1100" spc="25">
                <a:latin typeface="Times New Roman"/>
                <a:cs typeface="Times New Roman"/>
              </a:rPr>
              <a:t>Astronomical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30">
                <a:latin typeface="Times New Roman"/>
                <a:cs typeface="Times New Roman"/>
              </a:rPr>
              <a:t>Observation</a:t>
            </a:r>
            <a:endParaRPr sz="1100">
              <a:latin typeface="Times New Roman"/>
              <a:cs typeface="Times New Roman"/>
            </a:endParaRPr>
          </a:p>
          <a:p>
            <a:pPr marL="173990" indent="-161925">
              <a:lnSpc>
                <a:spcPct val="100000"/>
              </a:lnSpc>
              <a:spcBef>
                <a:spcPts val="35"/>
              </a:spcBef>
              <a:buFont typeface="Arial"/>
              <a:buChar char="•"/>
              <a:tabLst>
                <a:tab pos="174625" algn="l"/>
              </a:tabLst>
            </a:pPr>
            <a:r>
              <a:rPr dirty="0" sz="1100" spc="35">
                <a:latin typeface="Times New Roman"/>
                <a:cs typeface="Times New Roman"/>
              </a:rPr>
              <a:t>National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20">
                <a:latin typeface="Times New Roman"/>
                <a:cs typeface="Times New Roman"/>
              </a:rPr>
              <a:t>Scholarship</a:t>
            </a:r>
            <a:endParaRPr sz="1100">
              <a:latin typeface="Times New Roman"/>
              <a:cs typeface="Times New Roman"/>
            </a:endParaRPr>
          </a:p>
          <a:p>
            <a:pPr marL="173990" indent="-161925">
              <a:lnSpc>
                <a:spcPct val="100000"/>
              </a:lnSpc>
              <a:spcBef>
                <a:spcPts val="35"/>
              </a:spcBef>
              <a:buFont typeface="Arial"/>
              <a:buChar char="•"/>
              <a:tabLst>
                <a:tab pos="174625" algn="l"/>
              </a:tabLst>
            </a:pPr>
            <a:r>
              <a:rPr dirty="0" sz="1100" spc="55">
                <a:latin typeface="Times New Roman"/>
                <a:cs typeface="Times New Roman"/>
              </a:rPr>
              <a:t>First </a:t>
            </a:r>
            <a:r>
              <a:rPr dirty="0" sz="1100" spc="35">
                <a:latin typeface="Times New Roman"/>
                <a:cs typeface="Times New Roman"/>
              </a:rPr>
              <a:t>Prize </a:t>
            </a:r>
            <a:r>
              <a:rPr dirty="0" sz="1100" spc="-20">
                <a:latin typeface="Times New Roman"/>
                <a:cs typeface="Times New Roman"/>
              </a:rPr>
              <a:t>of </a:t>
            </a:r>
            <a:r>
              <a:rPr dirty="0" sz="1100" spc="35">
                <a:latin typeface="Times New Roman"/>
                <a:cs typeface="Times New Roman"/>
              </a:rPr>
              <a:t>Guangqi </a:t>
            </a:r>
            <a:r>
              <a:rPr dirty="0" sz="1100" spc="20">
                <a:latin typeface="Times New Roman"/>
                <a:cs typeface="Times New Roman"/>
              </a:rPr>
              <a:t>Scholarship, </a:t>
            </a:r>
            <a:r>
              <a:rPr dirty="0" sz="1100" spc="30">
                <a:latin typeface="Times New Roman"/>
                <a:cs typeface="Times New Roman"/>
              </a:rPr>
              <a:t>Shanghai </a:t>
            </a:r>
            <a:r>
              <a:rPr dirty="0" sz="1100" spc="25">
                <a:latin typeface="Times New Roman"/>
                <a:cs typeface="Times New Roman"/>
              </a:rPr>
              <a:t>Astronomical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 spc="30">
                <a:latin typeface="Times New Roman"/>
                <a:cs typeface="Times New Roman"/>
              </a:rPr>
              <a:t>Observation</a:t>
            </a:r>
            <a:endParaRPr sz="1100">
              <a:latin typeface="Times New Roman"/>
              <a:cs typeface="Times New Roman"/>
            </a:endParaRPr>
          </a:p>
          <a:p>
            <a:pPr marL="173990" indent="-161925">
              <a:lnSpc>
                <a:spcPct val="100000"/>
              </a:lnSpc>
              <a:spcBef>
                <a:spcPts val="35"/>
              </a:spcBef>
              <a:buFont typeface="Arial"/>
              <a:buChar char="•"/>
              <a:tabLst>
                <a:tab pos="174625" algn="l"/>
              </a:tabLst>
            </a:pPr>
            <a:r>
              <a:rPr dirty="0" sz="1100" spc="20">
                <a:latin typeface="Times New Roman"/>
                <a:cs typeface="Times New Roman"/>
              </a:rPr>
              <a:t>Academic </a:t>
            </a:r>
            <a:r>
              <a:rPr dirty="0" sz="1100" spc="10">
                <a:latin typeface="Times New Roman"/>
                <a:cs typeface="Times New Roman"/>
              </a:rPr>
              <a:t>Excellence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20">
                <a:latin typeface="Times New Roman"/>
                <a:cs typeface="Times New Roman"/>
              </a:rPr>
              <a:t>Scholarship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06732" y="3108997"/>
            <a:ext cx="952500" cy="53594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90"/>
              </a:spcBef>
            </a:pPr>
            <a:r>
              <a:rPr dirty="0" sz="1100" spc="15" i="1">
                <a:latin typeface="Times New Roman"/>
                <a:cs typeface="Times New Roman"/>
              </a:rPr>
              <a:t>November</a:t>
            </a:r>
            <a:r>
              <a:rPr dirty="0" sz="1100" spc="45" i="1">
                <a:latin typeface="Times New Roman"/>
                <a:cs typeface="Times New Roman"/>
              </a:rPr>
              <a:t> </a:t>
            </a:r>
            <a:r>
              <a:rPr dirty="0" sz="1100" spc="5" i="1">
                <a:latin typeface="Times New Roman"/>
                <a:cs typeface="Times New Roman"/>
              </a:rPr>
              <a:t>2018</a:t>
            </a:r>
            <a:endParaRPr sz="1100">
              <a:latin typeface="Times New Roman"/>
              <a:cs typeface="Times New Roman"/>
            </a:endParaRPr>
          </a:p>
          <a:p>
            <a:pPr algn="r" marR="5080">
              <a:lnSpc>
                <a:spcPct val="100000"/>
              </a:lnSpc>
              <a:spcBef>
                <a:spcPts val="35"/>
              </a:spcBef>
            </a:pPr>
            <a:r>
              <a:rPr dirty="0" sz="1100" spc="35" i="1">
                <a:latin typeface="Times New Roman"/>
                <a:cs typeface="Times New Roman"/>
              </a:rPr>
              <a:t>May</a:t>
            </a:r>
            <a:r>
              <a:rPr dirty="0" sz="1100" spc="25" i="1">
                <a:latin typeface="Times New Roman"/>
                <a:cs typeface="Times New Roman"/>
              </a:rPr>
              <a:t> </a:t>
            </a:r>
            <a:r>
              <a:rPr dirty="0" sz="1100" spc="5" i="1">
                <a:latin typeface="Times New Roman"/>
                <a:cs typeface="Times New Roman"/>
              </a:rPr>
              <a:t>2019</a:t>
            </a:r>
            <a:endParaRPr sz="1100">
              <a:latin typeface="Times New Roman"/>
              <a:cs typeface="Times New Roman"/>
            </a:endParaRPr>
          </a:p>
          <a:p>
            <a:pPr algn="r" marR="5080">
              <a:lnSpc>
                <a:spcPct val="100000"/>
              </a:lnSpc>
              <a:spcBef>
                <a:spcPts val="35"/>
              </a:spcBef>
            </a:pPr>
            <a:r>
              <a:rPr dirty="0" sz="1100" spc="5" i="1">
                <a:latin typeface="Times New Roman"/>
                <a:cs typeface="Times New Roman"/>
              </a:rPr>
              <a:t>October</a:t>
            </a:r>
            <a:r>
              <a:rPr dirty="0" sz="1100" spc="50" i="1">
                <a:latin typeface="Times New Roman"/>
                <a:cs typeface="Times New Roman"/>
              </a:rPr>
              <a:t> </a:t>
            </a:r>
            <a:r>
              <a:rPr dirty="0" sz="1100" spc="5" i="1">
                <a:latin typeface="Times New Roman"/>
                <a:cs typeface="Times New Roman"/>
              </a:rPr>
              <a:t>2019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14400" y="4016857"/>
            <a:ext cx="5731510" cy="0"/>
          </a:xfrm>
          <a:custGeom>
            <a:avLst/>
            <a:gdLst/>
            <a:ahLst/>
            <a:cxnLst/>
            <a:rect l="l" t="t" r="r" b="b"/>
            <a:pathLst>
              <a:path w="5731509" h="0">
                <a:moveTo>
                  <a:pt x="0" y="0"/>
                </a:moveTo>
                <a:lnTo>
                  <a:pt x="5731205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901700" y="3690186"/>
            <a:ext cx="5757545" cy="5886450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dirty="0" sz="1100" spc="110" b="1">
                <a:latin typeface="Times New Roman"/>
                <a:cs typeface="Times New Roman"/>
              </a:rPr>
              <a:t>RESEARCH</a:t>
            </a:r>
            <a:r>
              <a:rPr dirty="0" sz="1100" spc="135" b="1">
                <a:latin typeface="Times New Roman"/>
                <a:cs typeface="Times New Roman"/>
              </a:rPr>
              <a:t> </a:t>
            </a:r>
            <a:r>
              <a:rPr dirty="0" sz="1100" spc="114" b="1">
                <a:latin typeface="Times New Roman"/>
                <a:cs typeface="Times New Roman"/>
              </a:rPr>
              <a:t>EXPERIENCE</a:t>
            </a:r>
            <a:endParaRPr sz="1100">
              <a:latin typeface="Times New Roman"/>
              <a:cs typeface="Times New Roman"/>
            </a:endParaRPr>
          </a:p>
          <a:p>
            <a:pPr marL="220345">
              <a:lnSpc>
                <a:spcPct val="100000"/>
              </a:lnSpc>
              <a:spcBef>
                <a:spcPts val="750"/>
              </a:spcBef>
              <a:tabLst>
                <a:tab pos="4201160" algn="l"/>
              </a:tabLst>
            </a:pPr>
            <a:r>
              <a:rPr dirty="0" sz="1100" spc="85" b="1">
                <a:latin typeface="Times New Roman"/>
                <a:cs typeface="Times New Roman"/>
              </a:rPr>
              <a:t>Quantum </a:t>
            </a:r>
            <a:r>
              <a:rPr dirty="0" sz="1100" spc="75" b="1">
                <a:latin typeface="Times New Roman"/>
                <a:cs typeface="Times New Roman"/>
              </a:rPr>
              <a:t>Optics </a:t>
            </a:r>
            <a:r>
              <a:rPr dirty="0" sz="1100" spc="55" b="1">
                <a:latin typeface="Times New Roman"/>
                <a:cs typeface="Times New Roman"/>
              </a:rPr>
              <a:t>Lab,</a:t>
            </a:r>
            <a:r>
              <a:rPr dirty="0" sz="1100" spc="320" b="1">
                <a:latin typeface="Times New Roman"/>
                <a:cs typeface="Times New Roman"/>
              </a:rPr>
              <a:t> </a:t>
            </a:r>
            <a:r>
              <a:rPr dirty="0" sz="1100" spc="90" b="1">
                <a:latin typeface="Times New Roman"/>
                <a:cs typeface="Times New Roman"/>
              </a:rPr>
              <a:t>Xiamen</a:t>
            </a:r>
            <a:r>
              <a:rPr dirty="0" sz="1100" spc="160" b="1">
                <a:latin typeface="Times New Roman"/>
                <a:cs typeface="Times New Roman"/>
              </a:rPr>
              <a:t> </a:t>
            </a:r>
            <a:r>
              <a:rPr dirty="0" sz="1100" spc="75" b="1">
                <a:latin typeface="Times New Roman"/>
                <a:cs typeface="Times New Roman"/>
              </a:rPr>
              <a:t>University	</a:t>
            </a:r>
            <a:r>
              <a:rPr dirty="0" sz="1100" spc="5" i="1">
                <a:latin typeface="Times New Roman"/>
                <a:cs typeface="Times New Roman"/>
              </a:rPr>
              <a:t>October 2017 </a:t>
            </a:r>
            <a:r>
              <a:rPr dirty="0" sz="1100" spc="20" i="1">
                <a:latin typeface="Times New Roman"/>
                <a:cs typeface="Times New Roman"/>
              </a:rPr>
              <a:t>- </a:t>
            </a:r>
            <a:r>
              <a:rPr dirty="0" sz="1100" spc="35" i="1">
                <a:latin typeface="Times New Roman"/>
                <a:cs typeface="Times New Roman"/>
              </a:rPr>
              <a:t>May</a:t>
            </a:r>
            <a:r>
              <a:rPr dirty="0" sz="1100" spc="70" i="1">
                <a:latin typeface="Times New Roman"/>
                <a:cs typeface="Times New Roman"/>
              </a:rPr>
              <a:t> </a:t>
            </a:r>
            <a:r>
              <a:rPr dirty="0" sz="1100" spc="5" i="1">
                <a:latin typeface="Times New Roman"/>
                <a:cs typeface="Times New Roman"/>
              </a:rPr>
              <a:t>2018</a:t>
            </a:r>
            <a:endParaRPr sz="1100">
              <a:latin typeface="Times New Roman"/>
              <a:cs typeface="Times New Roman"/>
            </a:endParaRPr>
          </a:p>
          <a:p>
            <a:pPr algn="just" marL="220345" marR="6985">
              <a:lnSpc>
                <a:spcPct val="102600"/>
              </a:lnSpc>
              <a:buFont typeface="Arial"/>
              <a:buChar char="•"/>
              <a:tabLst>
                <a:tab pos="383540" algn="l"/>
              </a:tabLst>
            </a:pPr>
            <a:r>
              <a:rPr dirty="0" sz="1100" spc="25">
                <a:latin typeface="Times New Roman"/>
                <a:cs typeface="Times New Roman"/>
              </a:rPr>
              <a:t>Lead by </a:t>
            </a:r>
            <a:r>
              <a:rPr dirty="0" sz="1100" spc="35">
                <a:latin typeface="Times New Roman"/>
                <a:cs typeface="Times New Roman"/>
              </a:rPr>
              <a:t>Prof. </a:t>
            </a:r>
            <a:r>
              <a:rPr dirty="0" sz="1100" spc="15">
                <a:latin typeface="Times New Roman"/>
                <a:cs typeface="Times New Roman"/>
              </a:rPr>
              <a:t>Lixiang </a:t>
            </a:r>
            <a:r>
              <a:rPr dirty="0" sz="1100" spc="35">
                <a:latin typeface="Times New Roman"/>
                <a:cs typeface="Times New Roman"/>
              </a:rPr>
              <a:t>Chen, </a:t>
            </a:r>
            <a:r>
              <a:rPr dirty="0" sz="1100" spc="55">
                <a:latin typeface="Times New Roman"/>
                <a:cs typeface="Times New Roman"/>
              </a:rPr>
              <a:t>and </a:t>
            </a:r>
            <a:r>
              <a:rPr dirty="0" sz="1100" spc="5">
                <a:latin typeface="Times New Roman"/>
                <a:cs typeface="Times New Roman"/>
              </a:rPr>
              <a:t>focus </a:t>
            </a:r>
            <a:r>
              <a:rPr dirty="0" sz="1100" spc="35">
                <a:latin typeface="Times New Roman"/>
                <a:cs typeface="Times New Roman"/>
              </a:rPr>
              <a:t>particularly </a:t>
            </a:r>
            <a:r>
              <a:rPr dirty="0" sz="1100" spc="25">
                <a:latin typeface="Times New Roman"/>
                <a:cs typeface="Times New Roman"/>
              </a:rPr>
              <a:t>on spin </a:t>
            </a:r>
            <a:r>
              <a:rPr dirty="0" sz="1100" spc="55">
                <a:latin typeface="Times New Roman"/>
                <a:cs typeface="Times New Roman"/>
              </a:rPr>
              <a:t>and </a:t>
            </a:r>
            <a:r>
              <a:rPr dirty="0" sz="1100" spc="35">
                <a:latin typeface="Times New Roman"/>
                <a:cs typeface="Times New Roman"/>
              </a:rPr>
              <a:t>orbital angular </a:t>
            </a:r>
            <a:r>
              <a:rPr dirty="0" sz="1100" spc="25">
                <a:latin typeface="Times New Roman"/>
                <a:cs typeface="Times New Roman"/>
              </a:rPr>
              <a:t>momen-  </a:t>
            </a:r>
            <a:r>
              <a:rPr dirty="0" sz="1100" spc="75">
                <a:latin typeface="Times New Roman"/>
                <a:cs typeface="Times New Roman"/>
              </a:rPr>
              <a:t>tum </a:t>
            </a:r>
            <a:r>
              <a:rPr dirty="0" sz="1100" spc="35">
                <a:latin typeface="Times New Roman"/>
                <a:cs typeface="Times New Roman"/>
              </a:rPr>
              <a:t>(OAM) </a:t>
            </a:r>
            <a:r>
              <a:rPr dirty="0" sz="1100" spc="-20">
                <a:latin typeface="Times New Roman"/>
                <a:cs typeface="Times New Roman"/>
              </a:rPr>
              <a:t>of </a:t>
            </a:r>
            <a:r>
              <a:rPr dirty="0" sz="1100" spc="35">
                <a:latin typeface="Times New Roman"/>
                <a:cs typeface="Times New Roman"/>
              </a:rPr>
              <a:t>photons </a:t>
            </a:r>
            <a:r>
              <a:rPr dirty="0" sz="1100" spc="55">
                <a:latin typeface="Times New Roman"/>
                <a:cs typeface="Times New Roman"/>
              </a:rPr>
              <a:t>and </a:t>
            </a:r>
            <a:r>
              <a:rPr dirty="0" sz="1100" spc="45">
                <a:latin typeface="Times New Roman"/>
                <a:cs typeface="Times New Roman"/>
              </a:rPr>
              <a:t>their </a:t>
            </a:r>
            <a:r>
              <a:rPr dirty="0" sz="1100" spc="55">
                <a:latin typeface="Times New Roman"/>
                <a:cs typeface="Times New Roman"/>
              </a:rPr>
              <a:t>quantum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35">
                <a:latin typeface="Times New Roman"/>
                <a:cs typeface="Times New Roman"/>
              </a:rPr>
              <a:t>aspects.</a:t>
            </a:r>
            <a:endParaRPr sz="1100">
              <a:latin typeface="Times New Roman"/>
              <a:cs typeface="Times New Roman"/>
            </a:endParaRPr>
          </a:p>
          <a:p>
            <a:pPr algn="just" marL="220345" marR="6350">
              <a:lnSpc>
                <a:spcPct val="102699"/>
              </a:lnSpc>
              <a:buFont typeface="Arial"/>
              <a:buChar char="•"/>
              <a:tabLst>
                <a:tab pos="383540" algn="l"/>
              </a:tabLst>
            </a:pPr>
            <a:r>
              <a:rPr dirty="0" sz="1100" spc="40">
                <a:latin typeface="Times New Roman"/>
                <a:cs typeface="Times New Roman"/>
              </a:rPr>
              <a:t>Read </a:t>
            </a:r>
            <a:r>
              <a:rPr dirty="0" sz="1100" spc="55">
                <a:latin typeface="Times New Roman"/>
                <a:cs typeface="Times New Roman"/>
              </a:rPr>
              <a:t>a </a:t>
            </a:r>
            <a:r>
              <a:rPr dirty="0" sz="1100" spc="35">
                <a:latin typeface="Times New Roman"/>
                <a:cs typeface="Times New Roman"/>
              </a:rPr>
              <a:t>lot </a:t>
            </a:r>
            <a:r>
              <a:rPr dirty="0" sz="1100" spc="-20">
                <a:latin typeface="Times New Roman"/>
                <a:cs typeface="Times New Roman"/>
              </a:rPr>
              <a:t>of </a:t>
            </a:r>
            <a:r>
              <a:rPr dirty="0" sz="1100" spc="40">
                <a:latin typeface="Times New Roman"/>
                <a:cs typeface="Times New Roman"/>
              </a:rPr>
              <a:t>papers </a:t>
            </a:r>
            <a:r>
              <a:rPr dirty="0" sz="1100" spc="60">
                <a:latin typeface="Times New Roman"/>
                <a:cs typeface="Times New Roman"/>
              </a:rPr>
              <a:t>about </a:t>
            </a:r>
            <a:r>
              <a:rPr dirty="0" sz="1100" spc="20">
                <a:latin typeface="Times New Roman"/>
                <a:cs typeface="Times New Roman"/>
              </a:rPr>
              <a:t>OAM. </a:t>
            </a:r>
            <a:r>
              <a:rPr dirty="0" sz="1100" spc="25">
                <a:latin typeface="Times New Roman"/>
                <a:cs typeface="Times New Roman"/>
              </a:rPr>
              <a:t>Helped </a:t>
            </a:r>
            <a:r>
              <a:rPr dirty="0" sz="1100" spc="55">
                <a:latin typeface="Times New Roman"/>
                <a:cs typeface="Times New Roman"/>
              </a:rPr>
              <a:t>the </a:t>
            </a:r>
            <a:r>
              <a:rPr dirty="0" sz="1100" spc="30">
                <a:latin typeface="Times New Roman"/>
                <a:cs typeface="Times New Roman"/>
              </a:rPr>
              <a:t>group members </a:t>
            </a:r>
            <a:r>
              <a:rPr dirty="0" sz="1100" spc="55">
                <a:latin typeface="Times New Roman"/>
                <a:cs typeface="Times New Roman"/>
              </a:rPr>
              <a:t>to </a:t>
            </a:r>
            <a:r>
              <a:rPr dirty="0" sz="1100" spc="30">
                <a:latin typeface="Times New Roman"/>
                <a:cs typeface="Times New Roman"/>
              </a:rPr>
              <a:t>build </a:t>
            </a:r>
            <a:r>
              <a:rPr dirty="0" sz="1100" spc="45">
                <a:latin typeface="Times New Roman"/>
                <a:cs typeface="Times New Roman"/>
              </a:rPr>
              <a:t>their </a:t>
            </a:r>
            <a:r>
              <a:rPr dirty="0" sz="1100" spc="30">
                <a:latin typeface="Times New Roman"/>
                <a:cs typeface="Times New Roman"/>
              </a:rPr>
              <a:t>experiment.  </a:t>
            </a:r>
            <a:r>
              <a:rPr dirty="0" sz="1100" spc="40">
                <a:latin typeface="Times New Roman"/>
                <a:cs typeface="Times New Roman"/>
              </a:rPr>
              <a:t>Learnt </a:t>
            </a:r>
            <a:r>
              <a:rPr dirty="0" sz="1100">
                <a:latin typeface="Times New Roman"/>
                <a:cs typeface="Times New Roman"/>
              </a:rPr>
              <a:t>how </a:t>
            </a:r>
            <a:r>
              <a:rPr dirty="0" sz="1100" spc="55">
                <a:latin typeface="Times New Roman"/>
                <a:cs typeface="Times New Roman"/>
              </a:rPr>
              <a:t>to </a:t>
            </a:r>
            <a:r>
              <a:rPr dirty="0" sz="1100" spc="15">
                <a:latin typeface="Times New Roman"/>
                <a:cs typeface="Times New Roman"/>
              </a:rPr>
              <a:t>use </a:t>
            </a:r>
            <a:r>
              <a:rPr dirty="0" sz="1100" spc="50">
                <a:latin typeface="Times New Roman"/>
                <a:cs typeface="Times New Roman"/>
              </a:rPr>
              <a:t>Matlab </a:t>
            </a:r>
            <a:r>
              <a:rPr dirty="0" sz="1100" spc="55">
                <a:latin typeface="Times New Roman"/>
                <a:cs typeface="Times New Roman"/>
              </a:rPr>
              <a:t>to </a:t>
            </a:r>
            <a:r>
              <a:rPr dirty="0" sz="1100" spc="40">
                <a:latin typeface="Times New Roman"/>
                <a:cs typeface="Times New Roman"/>
              </a:rPr>
              <a:t>stimulate </a:t>
            </a:r>
            <a:r>
              <a:rPr dirty="0" sz="1100" spc="55">
                <a:latin typeface="Times New Roman"/>
                <a:cs typeface="Times New Roman"/>
              </a:rPr>
              <a:t>the </a:t>
            </a:r>
            <a:r>
              <a:rPr dirty="0" sz="1100" spc="30">
                <a:latin typeface="Times New Roman"/>
                <a:cs typeface="Times New Roman"/>
              </a:rPr>
              <a:t>experimental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 spc="20">
                <a:latin typeface="Times New Roman"/>
                <a:cs typeface="Times New Roman"/>
              </a:rPr>
              <a:t>image.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"/>
              <a:buChar char="•"/>
            </a:pPr>
            <a:endParaRPr sz="1150">
              <a:latin typeface="Times New Roman"/>
              <a:cs typeface="Times New Roman"/>
            </a:endParaRPr>
          </a:p>
          <a:p>
            <a:pPr marL="220345" marR="5715">
              <a:lnSpc>
                <a:spcPct val="102600"/>
              </a:lnSpc>
              <a:tabLst>
                <a:tab pos="3900170" algn="l"/>
              </a:tabLst>
            </a:pPr>
            <a:r>
              <a:rPr dirty="0" sz="1100" spc="65" b="1">
                <a:latin typeface="Times New Roman"/>
                <a:cs typeface="Times New Roman"/>
              </a:rPr>
              <a:t>Black </a:t>
            </a:r>
            <a:r>
              <a:rPr dirty="0" sz="1100" spc="80" b="1">
                <a:latin typeface="Times New Roman"/>
                <a:cs typeface="Times New Roman"/>
              </a:rPr>
              <a:t>Hole Accretion </a:t>
            </a:r>
            <a:r>
              <a:rPr dirty="0" sz="1100" spc="75" b="1">
                <a:latin typeface="Times New Roman"/>
                <a:cs typeface="Times New Roman"/>
              </a:rPr>
              <a:t>and </a:t>
            </a:r>
            <a:r>
              <a:rPr dirty="0" sz="1100" spc="80" b="1">
                <a:latin typeface="Times New Roman"/>
                <a:cs typeface="Times New Roman"/>
              </a:rPr>
              <a:t>High </a:t>
            </a:r>
            <a:r>
              <a:rPr dirty="0" sz="1100" spc="75" b="1">
                <a:latin typeface="Times New Roman"/>
                <a:cs typeface="Times New Roman"/>
              </a:rPr>
              <a:t>Energy Astrophysics Group, </a:t>
            </a:r>
            <a:r>
              <a:rPr dirty="0" sz="1100" spc="70" b="1">
                <a:latin typeface="Times New Roman"/>
                <a:cs typeface="Times New Roman"/>
              </a:rPr>
              <a:t>Shanghai </a:t>
            </a:r>
            <a:r>
              <a:rPr dirty="0" sz="1100" spc="80" b="1">
                <a:latin typeface="Times New Roman"/>
                <a:cs typeface="Times New Roman"/>
              </a:rPr>
              <a:t>Astro-  </a:t>
            </a:r>
            <a:r>
              <a:rPr dirty="0" sz="1100" spc="70" b="1">
                <a:latin typeface="Times New Roman"/>
                <a:cs typeface="Times New Roman"/>
              </a:rPr>
              <a:t>nomical</a:t>
            </a:r>
            <a:r>
              <a:rPr dirty="0" sz="1100" spc="150" b="1">
                <a:latin typeface="Times New Roman"/>
                <a:cs typeface="Times New Roman"/>
              </a:rPr>
              <a:t> </a:t>
            </a:r>
            <a:r>
              <a:rPr dirty="0" sz="1100" spc="70" b="1">
                <a:latin typeface="Times New Roman"/>
                <a:cs typeface="Times New Roman"/>
              </a:rPr>
              <a:t>Observatory	</a:t>
            </a:r>
            <a:r>
              <a:rPr dirty="0" sz="1100" spc="30" i="1">
                <a:latin typeface="Times New Roman"/>
                <a:cs typeface="Times New Roman"/>
              </a:rPr>
              <a:t>August </a:t>
            </a:r>
            <a:r>
              <a:rPr dirty="0" sz="1100" spc="5" i="1">
                <a:latin typeface="Times New Roman"/>
                <a:cs typeface="Times New Roman"/>
              </a:rPr>
              <a:t>2019 </a:t>
            </a:r>
            <a:r>
              <a:rPr dirty="0" sz="1100" spc="20" i="1">
                <a:latin typeface="Times New Roman"/>
                <a:cs typeface="Times New Roman"/>
              </a:rPr>
              <a:t>- September</a:t>
            </a:r>
            <a:r>
              <a:rPr dirty="0" sz="1100" spc="70" i="1">
                <a:latin typeface="Times New Roman"/>
                <a:cs typeface="Times New Roman"/>
              </a:rPr>
              <a:t> </a:t>
            </a:r>
            <a:r>
              <a:rPr dirty="0" sz="1100" spc="5" i="1">
                <a:latin typeface="Times New Roman"/>
                <a:cs typeface="Times New Roman"/>
              </a:rPr>
              <a:t>2019</a:t>
            </a:r>
            <a:endParaRPr sz="1100">
              <a:latin typeface="Times New Roman"/>
              <a:cs typeface="Times New Roman"/>
            </a:endParaRPr>
          </a:p>
          <a:p>
            <a:pPr algn="just" marL="220345" marR="5715">
              <a:lnSpc>
                <a:spcPct val="102699"/>
              </a:lnSpc>
              <a:buFont typeface="Arial"/>
              <a:buChar char="•"/>
              <a:tabLst>
                <a:tab pos="366395" algn="l"/>
              </a:tabLst>
            </a:pPr>
            <a:r>
              <a:rPr dirty="0" sz="1100" spc="25">
                <a:latin typeface="Times New Roman"/>
                <a:cs typeface="Times New Roman"/>
              </a:rPr>
              <a:t>Lead by </a:t>
            </a:r>
            <a:r>
              <a:rPr dirty="0" sz="1100" spc="35">
                <a:latin typeface="Times New Roman"/>
                <a:cs typeface="Times New Roman"/>
              </a:rPr>
              <a:t>Prof. </a:t>
            </a:r>
            <a:r>
              <a:rPr dirty="0" sz="1100" spc="10">
                <a:latin typeface="Times New Roman"/>
                <a:cs typeface="Times New Roman"/>
              </a:rPr>
              <a:t>Feng </a:t>
            </a:r>
            <a:r>
              <a:rPr dirty="0" sz="1100" spc="20">
                <a:latin typeface="Times New Roman"/>
                <a:cs typeface="Times New Roman"/>
              </a:rPr>
              <a:t>Yuan, </a:t>
            </a:r>
            <a:r>
              <a:rPr dirty="0" sz="1100" spc="25">
                <a:latin typeface="Times New Roman"/>
                <a:cs typeface="Times New Roman"/>
              </a:rPr>
              <a:t>topics </a:t>
            </a:r>
            <a:r>
              <a:rPr dirty="0" sz="1100" spc="20">
                <a:latin typeface="Times New Roman"/>
                <a:cs typeface="Times New Roman"/>
              </a:rPr>
              <a:t>including: </a:t>
            </a:r>
            <a:r>
              <a:rPr dirty="0" sz="1100" spc="15">
                <a:latin typeface="Times New Roman"/>
                <a:cs typeface="Times New Roman"/>
              </a:rPr>
              <a:t>Black </a:t>
            </a:r>
            <a:r>
              <a:rPr dirty="0" sz="1100" spc="10">
                <a:latin typeface="Times New Roman"/>
                <a:cs typeface="Times New Roman"/>
              </a:rPr>
              <a:t>hole </a:t>
            </a:r>
            <a:r>
              <a:rPr dirty="0" sz="1100" spc="25">
                <a:latin typeface="Times New Roman"/>
                <a:cs typeface="Times New Roman"/>
              </a:rPr>
              <a:t>accretion, </a:t>
            </a:r>
            <a:r>
              <a:rPr dirty="0" sz="1100" spc="45">
                <a:latin typeface="Times New Roman"/>
                <a:cs typeface="Times New Roman"/>
              </a:rPr>
              <a:t>jet </a:t>
            </a:r>
            <a:r>
              <a:rPr dirty="0" sz="1100" spc="30">
                <a:latin typeface="Times New Roman"/>
                <a:cs typeface="Times New Roman"/>
              </a:rPr>
              <a:t>formation, </a:t>
            </a:r>
            <a:r>
              <a:rPr dirty="0" sz="1100" spc="55">
                <a:latin typeface="Times New Roman"/>
                <a:cs typeface="Times New Roman"/>
              </a:rPr>
              <a:t>and </a:t>
            </a:r>
            <a:r>
              <a:rPr dirty="0" sz="1100" spc="15">
                <a:latin typeface="Times New Roman"/>
                <a:cs typeface="Times New Roman"/>
              </a:rPr>
              <a:t>wind;  </a:t>
            </a:r>
            <a:r>
              <a:rPr dirty="0" sz="1100" spc="20">
                <a:latin typeface="Times New Roman"/>
                <a:cs typeface="Times New Roman"/>
              </a:rPr>
              <a:t>Active </a:t>
            </a:r>
            <a:r>
              <a:rPr dirty="0" sz="1100" spc="25">
                <a:latin typeface="Times New Roman"/>
                <a:cs typeface="Times New Roman"/>
              </a:rPr>
              <a:t>galactic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10">
                <a:latin typeface="Times New Roman"/>
                <a:cs typeface="Times New Roman"/>
              </a:rPr>
              <a:t>nuclei.</a:t>
            </a:r>
            <a:endParaRPr sz="1100">
              <a:latin typeface="Times New Roman"/>
              <a:cs typeface="Times New Roman"/>
            </a:endParaRPr>
          </a:p>
          <a:p>
            <a:pPr algn="just" marL="220345" marR="5080">
              <a:lnSpc>
                <a:spcPct val="102600"/>
              </a:lnSpc>
              <a:buFont typeface="Arial"/>
              <a:buChar char="•"/>
              <a:tabLst>
                <a:tab pos="407670" algn="l"/>
              </a:tabLst>
            </a:pPr>
            <a:r>
              <a:rPr dirty="0" sz="1100" spc="30">
                <a:latin typeface="Times New Roman"/>
                <a:cs typeface="Times New Roman"/>
              </a:rPr>
              <a:t>Wrote </a:t>
            </a:r>
            <a:r>
              <a:rPr dirty="0" sz="1100" spc="55">
                <a:latin typeface="Times New Roman"/>
                <a:cs typeface="Times New Roman"/>
              </a:rPr>
              <a:t>a </a:t>
            </a:r>
            <a:r>
              <a:rPr dirty="0" sz="1100" spc="35">
                <a:latin typeface="Times New Roman"/>
                <a:cs typeface="Times New Roman"/>
              </a:rPr>
              <a:t>program </a:t>
            </a:r>
            <a:r>
              <a:rPr dirty="0" sz="1100" spc="55">
                <a:latin typeface="Times New Roman"/>
                <a:cs typeface="Times New Roman"/>
              </a:rPr>
              <a:t>to </a:t>
            </a:r>
            <a:r>
              <a:rPr dirty="0" sz="1100" spc="50">
                <a:latin typeface="Times New Roman"/>
                <a:cs typeface="Times New Roman"/>
              </a:rPr>
              <a:t>repeat </a:t>
            </a:r>
            <a:r>
              <a:rPr dirty="0" sz="1100" spc="55">
                <a:latin typeface="Times New Roman"/>
                <a:cs typeface="Times New Roman"/>
              </a:rPr>
              <a:t>the </a:t>
            </a:r>
            <a:r>
              <a:rPr dirty="0" sz="1100" spc="30">
                <a:latin typeface="Times New Roman"/>
                <a:cs typeface="Times New Roman"/>
              </a:rPr>
              <a:t>results </a:t>
            </a:r>
            <a:r>
              <a:rPr dirty="0" sz="1100" spc="-20">
                <a:latin typeface="Times New Roman"/>
                <a:cs typeface="Times New Roman"/>
              </a:rPr>
              <a:t>of </a:t>
            </a:r>
            <a:r>
              <a:rPr dirty="0" sz="1100" spc="10">
                <a:latin typeface="Times New Roman"/>
                <a:cs typeface="Times New Roman"/>
              </a:rPr>
              <a:t>2-D </a:t>
            </a:r>
            <a:r>
              <a:rPr dirty="0" sz="1100" spc="30">
                <a:latin typeface="Times New Roman"/>
                <a:cs typeface="Times New Roman"/>
              </a:rPr>
              <a:t>hydrodynamical non-radiative accretion  </a:t>
            </a:r>
            <a:r>
              <a:rPr dirty="0" sz="1100" spc="-25">
                <a:latin typeface="Times New Roman"/>
                <a:cs typeface="Times New Roman"/>
              </a:rPr>
              <a:t>flows </a:t>
            </a:r>
            <a:r>
              <a:rPr dirty="0" sz="1100" spc="35">
                <a:latin typeface="Times New Roman"/>
                <a:cs typeface="Times New Roman"/>
              </a:rPr>
              <a:t>(Stone </a:t>
            </a:r>
            <a:r>
              <a:rPr dirty="0" sz="1100" spc="55">
                <a:latin typeface="Times New Roman"/>
                <a:cs typeface="Times New Roman"/>
              </a:rPr>
              <a:t>et </a:t>
            </a:r>
            <a:r>
              <a:rPr dirty="0" sz="1100" spc="25">
                <a:latin typeface="Times New Roman"/>
                <a:cs typeface="Times New Roman"/>
              </a:rPr>
              <a:t>al. </a:t>
            </a:r>
            <a:r>
              <a:rPr dirty="0" sz="1100" spc="10">
                <a:latin typeface="Times New Roman"/>
                <a:cs typeface="Times New Roman"/>
              </a:rPr>
              <a:t>1999), </a:t>
            </a:r>
            <a:r>
              <a:rPr dirty="0" sz="1100" spc="75">
                <a:latin typeface="Times New Roman"/>
                <a:cs typeface="Times New Roman"/>
              </a:rPr>
              <a:t>but </a:t>
            </a:r>
            <a:r>
              <a:rPr dirty="0" sz="1100" spc="20">
                <a:latin typeface="Times New Roman"/>
                <a:cs typeface="Times New Roman"/>
              </a:rPr>
              <a:t>still needs </a:t>
            </a:r>
            <a:r>
              <a:rPr dirty="0" sz="1100" spc="10">
                <a:latin typeface="Times New Roman"/>
                <a:cs typeface="Times New Roman"/>
              </a:rPr>
              <a:t>some </a:t>
            </a:r>
            <a:r>
              <a:rPr dirty="0" sz="1100" spc="40">
                <a:latin typeface="Times New Roman"/>
                <a:cs typeface="Times New Roman"/>
              </a:rPr>
              <a:t>further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25">
                <a:latin typeface="Times New Roman"/>
                <a:cs typeface="Times New Roman"/>
              </a:rPr>
              <a:t>development.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1200">
              <a:latin typeface="Times New Roman"/>
              <a:cs typeface="Times New Roman"/>
            </a:endParaRPr>
          </a:p>
          <a:p>
            <a:pPr marL="220345">
              <a:lnSpc>
                <a:spcPct val="100000"/>
              </a:lnSpc>
              <a:spcBef>
                <a:spcPts val="5"/>
              </a:spcBef>
              <a:tabLst>
                <a:tab pos="4366260" algn="l"/>
              </a:tabLst>
            </a:pPr>
            <a:r>
              <a:rPr dirty="0" sz="1100" spc="65" b="1">
                <a:latin typeface="Times New Roman"/>
                <a:cs typeface="Times New Roman"/>
              </a:rPr>
              <a:t>Black </a:t>
            </a:r>
            <a:r>
              <a:rPr dirty="0" sz="1100" spc="80" b="1">
                <a:latin typeface="Times New Roman"/>
                <a:cs typeface="Times New Roman"/>
              </a:rPr>
              <a:t>Hole </a:t>
            </a:r>
            <a:r>
              <a:rPr dirty="0" sz="1100" spc="70" b="1">
                <a:latin typeface="Times New Roman"/>
                <a:cs typeface="Times New Roman"/>
              </a:rPr>
              <a:t>Binaries </a:t>
            </a:r>
            <a:r>
              <a:rPr dirty="0" sz="1100" spc="75" b="1">
                <a:latin typeface="Times New Roman"/>
                <a:cs typeface="Times New Roman"/>
              </a:rPr>
              <a:t>Study,</a:t>
            </a:r>
            <a:r>
              <a:rPr dirty="0" sz="1100" spc="405" b="1">
                <a:latin typeface="Times New Roman"/>
                <a:cs typeface="Times New Roman"/>
              </a:rPr>
              <a:t> </a:t>
            </a:r>
            <a:r>
              <a:rPr dirty="0" sz="1100" spc="90" b="1">
                <a:latin typeface="Times New Roman"/>
                <a:cs typeface="Times New Roman"/>
              </a:rPr>
              <a:t>Xiamen</a:t>
            </a:r>
            <a:r>
              <a:rPr dirty="0" sz="1100" spc="155" b="1">
                <a:latin typeface="Times New Roman"/>
                <a:cs typeface="Times New Roman"/>
              </a:rPr>
              <a:t> </a:t>
            </a:r>
            <a:r>
              <a:rPr dirty="0" sz="1100" spc="75" b="1">
                <a:latin typeface="Times New Roman"/>
                <a:cs typeface="Times New Roman"/>
              </a:rPr>
              <a:t>University	</a:t>
            </a:r>
            <a:r>
              <a:rPr dirty="0" sz="1100" spc="5" i="1">
                <a:latin typeface="Times New Roman"/>
                <a:cs typeface="Times New Roman"/>
              </a:rPr>
              <a:t>October 2018 </a:t>
            </a:r>
            <a:r>
              <a:rPr dirty="0" sz="1100" spc="20" i="1">
                <a:latin typeface="Times New Roman"/>
                <a:cs typeface="Times New Roman"/>
              </a:rPr>
              <a:t>-</a:t>
            </a:r>
            <a:r>
              <a:rPr dirty="0" sz="1100" spc="275" i="1">
                <a:latin typeface="Times New Roman"/>
                <a:cs typeface="Times New Roman"/>
              </a:rPr>
              <a:t> </a:t>
            </a:r>
            <a:r>
              <a:rPr dirty="0" sz="1100" spc="20" i="1">
                <a:latin typeface="Times New Roman"/>
                <a:cs typeface="Times New Roman"/>
              </a:rPr>
              <a:t>present</a:t>
            </a:r>
            <a:endParaRPr sz="1100">
              <a:latin typeface="Times New Roman"/>
              <a:cs typeface="Times New Roman"/>
            </a:endParaRPr>
          </a:p>
          <a:p>
            <a:pPr algn="just" marL="220345" marR="5080">
              <a:lnSpc>
                <a:spcPct val="102600"/>
              </a:lnSpc>
              <a:buFont typeface="Arial"/>
              <a:buChar char="•"/>
              <a:tabLst>
                <a:tab pos="382905" algn="l"/>
              </a:tabLst>
            </a:pPr>
            <a:r>
              <a:rPr dirty="0" sz="1100" spc="35">
                <a:latin typeface="Times New Roman"/>
                <a:cs typeface="Times New Roman"/>
              </a:rPr>
              <a:t>Prof. </a:t>
            </a:r>
            <a:r>
              <a:rPr dirty="0" sz="1100" spc="30">
                <a:latin typeface="Times New Roman"/>
                <a:cs typeface="Times New Roman"/>
              </a:rPr>
              <a:t>Jianfeng </a:t>
            </a:r>
            <a:r>
              <a:rPr dirty="0" sz="1100" spc="-5">
                <a:latin typeface="Times New Roman"/>
                <a:cs typeface="Times New Roman"/>
              </a:rPr>
              <a:t>Wu‘s </a:t>
            </a:r>
            <a:r>
              <a:rPr dirty="0" sz="1100" spc="30">
                <a:latin typeface="Times New Roman"/>
                <a:cs typeface="Times New Roman"/>
              </a:rPr>
              <a:t>group </a:t>
            </a:r>
            <a:r>
              <a:rPr dirty="0" sz="1100" spc="5">
                <a:latin typeface="Times New Roman"/>
                <a:cs typeface="Times New Roman"/>
              </a:rPr>
              <a:t>focuses </a:t>
            </a:r>
            <a:r>
              <a:rPr dirty="0" sz="1100" spc="25">
                <a:latin typeface="Times New Roman"/>
                <a:cs typeface="Times New Roman"/>
              </a:rPr>
              <a:t>on </a:t>
            </a:r>
            <a:r>
              <a:rPr dirty="0" sz="1100" spc="20">
                <a:latin typeface="Times New Roman"/>
                <a:cs typeface="Times New Roman"/>
              </a:rPr>
              <a:t>black </a:t>
            </a:r>
            <a:r>
              <a:rPr dirty="0" sz="1100" spc="5">
                <a:latin typeface="Times New Roman"/>
                <a:cs typeface="Times New Roman"/>
              </a:rPr>
              <a:t>holes </a:t>
            </a:r>
            <a:r>
              <a:rPr dirty="0" sz="1100" spc="15">
                <a:latin typeface="Times New Roman"/>
                <a:cs typeface="Times New Roman"/>
              </a:rPr>
              <a:t>across </a:t>
            </a:r>
            <a:r>
              <a:rPr dirty="0" sz="1100" spc="55">
                <a:latin typeface="Times New Roman"/>
                <a:cs typeface="Times New Roman"/>
              </a:rPr>
              <a:t>the </a:t>
            </a:r>
            <a:r>
              <a:rPr dirty="0" sz="1100" spc="25">
                <a:latin typeface="Times New Roman"/>
                <a:cs typeface="Times New Roman"/>
              </a:rPr>
              <a:t>mass </a:t>
            </a:r>
            <a:r>
              <a:rPr dirty="0" sz="1100" spc="10">
                <a:latin typeface="Times New Roman"/>
                <a:cs typeface="Times New Roman"/>
              </a:rPr>
              <a:t>scale, </a:t>
            </a:r>
            <a:r>
              <a:rPr dirty="0" sz="1100" spc="20">
                <a:latin typeface="Times New Roman"/>
                <a:cs typeface="Times New Roman"/>
              </a:rPr>
              <a:t>including </a:t>
            </a:r>
            <a:r>
              <a:rPr dirty="0" sz="1100" spc="30">
                <a:latin typeface="Times New Roman"/>
                <a:cs typeface="Times New Roman"/>
              </a:rPr>
              <a:t>super- </a:t>
            </a:r>
            <a:r>
              <a:rPr dirty="0" sz="1100" spc="335">
                <a:latin typeface="Times New Roman"/>
                <a:cs typeface="Times New Roman"/>
              </a:rPr>
              <a:t> </a:t>
            </a:r>
            <a:r>
              <a:rPr dirty="0" sz="1100" spc="10">
                <a:latin typeface="Times New Roman"/>
                <a:cs typeface="Times New Roman"/>
              </a:rPr>
              <a:t>massive </a:t>
            </a:r>
            <a:r>
              <a:rPr dirty="0" sz="1100" spc="20">
                <a:latin typeface="Times New Roman"/>
                <a:cs typeface="Times New Roman"/>
              </a:rPr>
              <a:t>black </a:t>
            </a:r>
            <a:r>
              <a:rPr dirty="0" sz="1100" spc="5">
                <a:latin typeface="Times New Roman"/>
                <a:cs typeface="Times New Roman"/>
              </a:rPr>
              <a:t>holes </a:t>
            </a:r>
            <a:r>
              <a:rPr dirty="0" sz="1100" spc="25">
                <a:latin typeface="Times New Roman"/>
                <a:cs typeface="Times New Roman"/>
              </a:rPr>
              <a:t>in active galactic </a:t>
            </a:r>
            <a:r>
              <a:rPr dirty="0" sz="1100" spc="10">
                <a:latin typeface="Times New Roman"/>
                <a:cs typeface="Times New Roman"/>
              </a:rPr>
              <a:t>nuclei, </a:t>
            </a:r>
            <a:r>
              <a:rPr dirty="0" sz="1100" spc="30">
                <a:latin typeface="Times New Roman"/>
                <a:cs typeface="Times New Roman"/>
              </a:rPr>
              <a:t>stellar </a:t>
            </a:r>
            <a:r>
              <a:rPr dirty="0" sz="1100" spc="25">
                <a:latin typeface="Times New Roman"/>
                <a:cs typeface="Times New Roman"/>
              </a:rPr>
              <a:t>mass </a:t>
            </a:r>
            <a:r>
              <a:rPr dirty="0" sz="1100" spc="15">
                <a:latin typeface="Times New Roman"/>
                <a:cs typeface="Times New Roman"/>
              </a:rPr>
              <a:t>black </a:t>
            </a:r>
            <a:r>
              <a:rPr dirty="0" sz="1100" spc="5">
                <a:latin typeface="Times New Roman"/>
                <a:cs typeface="Times New Roman"/>
              </a:rPr>
              <a:t>holes </a:t>
            </a:r>
            <a:r>
              <a:rPr dirty="0" sz="1100" spc="25">
                <a:latin typeface="Times New Roman"/>
                <a:cs typeface="Times New Roman"/>
              </a:rPr>
              <a:t>in </a:t>
            </a:r>
            <a:r>
              <a:rPr dirty="0" sz="1100" spc="40">
                <a:latin typeface="Times New Roman"/>
                <a:cs typeface="Times New Roman"/>
              </a:rPr>
              <a:t>binary </a:t>
            </a:r>
            <a:r>
              <a:rPr dirty="0" sz="1100" spc="25">
                <a:latin typeface="Times New Roman"/>
                <a:cs typeface="Times New Roman"/>
              </a:rPr>
              <a:t>systems, </a:t>
            </a:r>
            <a:r>
              <a:rPr dirty="0" sz="1100" spc="55">
                <a:latin typeface="Times New Roman"/>
                <a:cs typeface="Times New Roman"/>
              </a:rPr>
              <a:t>and </a:t>
            </a:r>
            <a:r>
              <a:rPr dirty="0" sz="1100" spc="385">
                <a:latin typeface="Times New Roman"/>
                <a:cs typeface="Times New Roman"/>
              </a:rPr>
              <a:t> </a:t>
            </a:r>
            <a:r>
              <a:rPr dirty="0" sz="1100" spc="35">
                <a:latin typeface="Times New Roman"/>
                <a:cs typeface="Times New Roman"/>
              </a:rPr>
              <a:t>intermediate </a:t>
            </a:r>
            <a:r>
              <a:rPr dirty="0" sz="1100" spc="25">
                <a:latin typeface="Times New Roman"/>
                <a:cs typeface="Times New Roman"/>
              </a:rPr>
              <a:t>mass </a:t>
            </a:r>
            <a:r>
              <a:rPr dirty="0" sz="1100" spc="20">
                <a:latin typeface="Times New Roman"/>
                <a:cs typeface="Times New Roman"/>
              </a:rPr>
              <a:t>black </a:t>
            </a:r>
            <a:r>
              <a:rPr dirty="0" sz="1100" spc="5">
                <a:latin typeface="Times New Roman"/>
                <a:cs typeface="Times New Roman"/>
              </a:rPr>
              <a:t>holes </a:t>
            </a:r>
            <a:r>
              <a:rPr dirty="0" sz="1100" spc="25">
                <a:latin typeface="Times New Roman"/>
                <a:cs typeface="Times New Roman"/>
              </a:rPr>
              <a:t>in </a:t>
            </a:r>
            <a:r>
              <a:rPr dirty="0" sz="1100" spc="20">
                <a:latin typeface="Times New Roman"/>
                <a:cs typeface="Times New Roman"/>
              </a:rPr>
              <a:t>dwarf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15">
                <a:latin typeface="Times New Roman"/>
                <a:cs typeface="Times New Roman"/>
              </a:rPr>
              <a:t>galaxies.</a:t>
            </a:r>
            <a:endParaRPr sz="1100">
              <a:latin typeface="Times New Roman"/>
              <a:cs typeface="Times New Roman"/>
            </a:endParaRPr>
          </a:p>
          <a:p>
            <a:pPr algn="just" marL="220345" marR="5080">
              <a:lnSpc>
                <a:spcPct val="102600"/>
              </a:lnSpc>
              <a:buFont typeface="Arial"/>
              <a:buChar char="•"/>
              <a:tabLst>
                <a:tab pos="400050" algn="l"/>
              </a:tabLst>
            </a:pPr>
            <a:r>
              <a:rPr dirty="0" sz="1100" spc="25">
                <a:latin typeface="Times New Roman"/>
                <a:cs typeface="Times New Roman"/>
              </a:rPr>
              <a:t>Processing </a:t>
            </a:r>
            <a:r>
              <a:rPr dirty="0" sz="1100" spc="55">
                <a:latin typeface="Times New Roman"/>
                <a:cs typeface="Times New Roman"/>
              </a:rPr>
              <a:t>the </a:t>
            </a:r>
            <a:r>
              <a:rPr dirty="0" sz="1100" spc="30">
                <a:latin typeface="Times New Roman"/>
                <a:cs typeface="Times New Roman"/>
              </a:rPr>
              <a:t>first-hand </a:t>
            </a:r>
            <a:r>
              <a:rPr dirty="0" sz="1100" spc="70">
                <a:latin typeface="Times New Roman"/>
                <a:cs typeface="Times New Roman"/>
              </a:rPr>
              <a:t>data </a:t>
            </a:r>
            <a:r>
              <a:rPr dirty="0" sz="1100" spc="-20">
                <a:latin typeface="Times New Roman"/>
                <a:cs typeface="Times New Roman"/>
              </a:rPr>
              <a:t>of </a:t>
            </a:r>
            <a:r>
              <a:rPr dirty="0" sz="1100" spc="55">
                <a:latin typeface="Times New Roman"/>
                <a:cs typeface="Times New Roman"/>
              </a:rPr>
              <a:t>a </a:t>
            </a:r>
            <a:r>
              <a:rPr dirty="0" sz="1100" spc="20">
                <a:latin typeface="Times New Roman"/>
                <a:cs typeface="Times New Roman"/>
              </a:rPr>
              <a:t>black </a:t>
            </a:r>
            <a:r>
              <a:rPr dirty="0" sz="1100" spc="10">
                <a:latin typeface="Times New Roman"/>
                <a:cs typeface="Times New Roman"/>
              </a:rPr>
              <a:t>hole </a:t>
            </a:r>
            <a:r>
              <a:rPr dirty="0" sz="1100" spc="40">
                <a:latin typeface="Times New Roman"/>
                <a:cs typeface="Times New Roman"/>
              </a:rPr>
              <a:t>candidate, </a:t>
            </a:r>
            <a:r>
              <a:rPr dirty="0" sz="1100" spc="10">
                <a:latin typeface="Times New Roman"/>
                <a:cs typeface="Times New Roman"/>
              </a:rPr>
              <a:t>which </a:t>
            </a:r>
            <a:r>
              <a:rPr dirty="0" sz="1100" spc="30">
                <a:latin typeface="Times New Roman"/>
                <a:cs typeface="Times New Roman"/>
              </a:rPr>
              <a:t>may </a:t>
            </a:r>
            <a:r>
              <a:rPr dirty="0" sz="1100" spc="25">
                <a:latin typeface="Times New Roman"/>
                <a:cs typeface="Times New Roman"/>
              </a:rPr>
              <a:t>lead </a:t>
            </a:r>
            <a:r>
              <a:rPr dirty="0" sz="1100" spc="55">
                <a:latin typeface="Times New Roman"/>
                <a:cs typeface="Times New Roman"/>
              </a:rPr>
              <a:t>to a </a:t>
            </a:r>
            <a:r>
              <a:rPr dirty="0" sz="1100" spc="15">
                <a:latin typeface="Times New Roman"/>
                <a:cs typeface="Times New Roman"/>
              </a:rPr>
              <a:t>refereed  </a:t>
            </a:r>
            <a:r>
              <a:rPr dirty="0" sz="1100" spc="35">
                <a:latin typeface="Times New Roman"/>
                <a:cs typeface="Times New Roman"/>
              </a:rPr>
              <a:t>journal </a:t>
            </a:r>
            <a:r>
              <a:rPr dirty="0" sz="1100" spc="50">
                <a:latin typeface="Times New Roman"/>
                <a:cs typeface="Times New Roman"/>
              </a:rPr>
              <a:t>paper </a:t>
            </a:r>
            <a:r>
              <a:rPr dirty="0" sz="1100" spc="45">
                <a:latin typeface="Times New Roman"/>
                <a:cs typeface="Times New Roman"/>
              </a:rPr>
              <a:t>next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25">
                <a:latin typeface="Times New Roman"/>
                <a:cs typeface="Times New Roman"/>
              </a:rPr>
              <a:t>year.</a:t>
            </a:r>
            <a:endParaRPr sz="1100">
              <a:latin typeface="Times New Roman"/>
              <a:cs typeface="Times New Roman"/>
            </a:endParaRPr>
          </a:p>
          <a:p>
            <a:pPr algn="just" marL="220345" marR="5080">
              <a:lnSpc>
                <a:spcPct val="102699"/>
              </a:lnSpc>
              <a:buFont typeface="Arial"/>
              <a:buChar char="•"/>
              <a:tabLst>
                <a:tab pos="391795" algn="l"/>
              </a:tabLst>
            </a:pPr>
            <a:r>
              <a:rPr dirty="0" sz="1100" spc="30">
                <a:latin typeface="Times New Roman"/>
                <a:cs typeface="Times New Roman"/>
              </a:rPr>
              <a:t>Share </a:t>
            </a:r>
            <a:r>
              <a:rPr dirty="0" sz="1100" spc="35">
                <a:latin typeface="Times New Roman"/>
                <a:cs typeface="Times New Roman"/>
              </a:rPr>
              <a:t>journal </a:t>
            </a:r>
            <a:r>
              <a:rPr dirty="0" sz="1100" spc="40">
                <a:latin typeface="Times New Roman"/>
                <a:cs typeface="Times New Roman"/>
              </a:rPr>
              <a:t>papers </a:t>
            </a:r>
            <a:r>
              <a:rPr dirty="0" sz="1100" spc="25">
                <a:latin typeface="Times New Roman"/>
                <a:cs typeface="Times New Roman"/>
              </a:rPr>
              <a:t>on </a:t>
            </a:r>
            <a:r>
              <a:rPr dirty="0" sz="1100" spc="30">
                <a:latin typeface="Times New Roman"/>
                <a:cs typeface="Times New Roman"/>
              </a:rPr>
              <a:t>group meeting </a:t>
            </a:r>
            <a:r>
              <a:rPr dirty="0" sz="1100" spc="25">
                <a:latin typeface="Times New Roman"/>
                <a:cs typeface="Times New Roman"/>
              </a:rPr>
              <a:t>regularly </a:t>
            </a:r>
            <a:r>
              <a:rPr dirty="0" sz="1100" spc="55">
                <a:latin typeface="Times New Roman"/>
                <a:cs typeface="Times New Roman"/>
              </a:rPr>
              <a:t>to </a:t>
            </a:r>
            <a:r>
              <a:rPr dirty="0" sz="1100" spc="20">
                <a:latin typeface="Times New Roman"/>
                <a:cs typeface="Times New Roman"/>
              </a:rPr>
              <a:t>describe </a:t>
            </a:r>
            <a:r>
              <a:rPr dirty="0" sz="1100" spc="55">
                <a:latin typeface="Times New Roman"/>
                <a:cs typeface="Times New Roman"/>
              </a:rPr>
              <a:t>the </a:t>
            </a:r>
            <a:r>
              <a:rPr dirty="0" sz="1100" spc="15">
                <a:latin typeface="Times New Roman"/>
                <a:cs typeface="Times New Roman"/>
              </a:rPr>
              <a:t>physical </a:t>
            </a:r>
            <a:r>
              <a:rPr dirty="0" sz="1100" spc="20">
                <a:latin typeface="Times New Roman"/>
                <a:cs typeface="Times New Roman"/>
              </a:rPr>
              <a:t>models </a:t>
            </a:r>
            <a:r>
              <a:rPr dirty="0" sz="1100" spc="25">
                <a:latin typeface="Times New Roman"/>
                <a:cs typeface="Times New Roman"/>
              </a:rPr>
              <a:t>in </a:t>
            </a:r>
            <a:r>
              <a:rPr dirty="0" sz="1100" spc="55">
                <a:latin typeface="Times New Roman"/>
                <a:cs typeface="Times New Roman"/>
              </a:rPr>
              <a:t>the </a:t>
            </a:r>
            <a:r>
              <a:rPr dirty="0" sz="1100" spc="385">
                <a:latin typeface="Times New Roman"/>
                <a:cs typeface="Times New Roman"/>
              </a:rPr>
              <a:t> </a:t>
            </a:r>
            <a:r>
              <a:rPr dirty="0" sz="1100" spc="50">
                <a:latin typeface="Times New Roman"/>
                <a:cs typeface="Times New Roman"/>
              </a:rPr>
              <a:t>paper </a:t>
            </a:r>
            <a:r>
              <a:rPr dirty="0" sz="1100" spc="55">
                <a:latin typeface="Times New Roman"/>
                <a:cs typeface="Times New Roman"/>
              </a:rPr>
              <a:t>to the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25">
                <a:latin typeface="Times New Roman"/>
                <a:cs typeface="Times New Roman"/>
              </a:rPr>
              <a:t>audience.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"/>
              <a:buChar char="•"/>
            </a:pPr>
            <a:endParaRPr sz="1200">
              <a:latin typeface="Times New Roman"/>
              <a:cs typeface="Times New Roman"/>
            </a:endParaRPr>
          </a:p>
          <a:p>
            <a:pPr marL="220345">
              <a:lnSpc>
                <a:spcPct val="100000"/>
              </a:lnSpc>
              <a:tabLst>
                <a:tab pos="4366260" algn="l"/>
              </a:tabLst>
            </a:pPr>
            <a:r>
              <a:rPr dirty="0" sz="1100" spc="100" b="1">
                <a:latin typeface="Times New Roman"/>
                <a:cs typeface="Times New Roman"/>
              </a:rPr>
              <a:t>The </a:t>
            </a:r>
            <a:r>
              <a:rPr dirty="0" sz="1100" spc="90" b="1">
                <a:latin typeface="Times New Roman"/>
                <a:cs typeface="Times New Roman"/>
              </a:rPr>
              <a:t>Gamma-Ray </a:t>
            </a:r>
            <a:r>
              <a:rPr dirty="0" sz="1100" spc="75" b="1">
                <a:latin typeface="Times New Roman"/>
                <a:cs typeface="Times New Roman"/>
              </a:rPr>
              <a:t>Integrated</a:t>
            </a:r>
            <a:r>
              <a:rPr dirty="0" sz="1100" spc="275" b="1">
                <a:latin typeface="Times New Roman"/>
                <a:cs typeface="Times New Roman"/>
              </a:rPr>
              <a:t> </a:t>
            </a:r>
            <a:r>
              <a:rPr dirty="0" sz="1100" spc="90" b="1">
                <a:latin typeface="Times New Roman"/>
                <a:cs typeface="Times New Roman"/>
              </a:rPr>
              <a:t>Detectors</a:t>
            </a:r>
            <a:r>
              <a:rPr dirty="0" sz="1100" spc="155" b="1">
                <a:latin typeface="Times New Roman"/>
                <a:cs typeface="Times New Roman"/>
              </a:rPr>
              <a:t> </a:t>
            </a:r>
            <a:r>
              <a:rPr dirty="0" sz="1100" spc="90" b="1">
                <a:latin typeface="Times New Roman"/>
                <a:cs typeface="Times New Roman"/>
              </a:rPr>
              <a:t>Project	</a:t>
            </a:r>
            <a:r>
              <a:rPr dirty="0" sz="1100" spc="5" i="1">
                <a:latin typeface="Times New Roman"/>
                <a:cs typeface="Times New Roman"/>
              </a:rPr>
              <a:t>October 2018 </a:t>
            </a:r>
            <a:r>
              <a:rPr dirty="0" sz="1100" spc="20" i="1">
                <a:latin typeface="Times New Roman"/>
                <a:cs typeface="Times New Roman"/>
              </a:rPr>
              <a:t>-</a:t>
            </a:r>
            <a:r>
              <a:rPr dirty="0" sz="1100" spc="275" i="1">
                <a:latin typeface="Times New Roman"/>
                <a:cs typeface="Times New Roman"/>
              </a:rPr>
              <a:t> </a:t>
            </a:r>
            <a:r>
              <a:rPr dirty="0" sz="1100" spc="20" i="1">
                <a:latin typeface="Times New Roman"/>
                <a:cs typeface="Times New Roman"/>
              </a:rPr>
              <a:t>present</a:t>
            </a:r>
            <a:endParaRPr sz="1100">
              <a:latin typeface="Times New Roman"/>
              <a:cs typeface="Times New Roman"/>
            </a:endParaRPr>
          </a:p>
          <a:p>
            <a:pPr algn="just" marL="220345" marR="5715">
              <a:lnSpc>
                <a:spcPct val="102600"/>
              </a:lnSpc>
              <a:buFont typeface="Arial"/>
              <a:buChar char="•"/>
              <a:tabLst>
                <a:tab pos="329565" algn="l"/>
              </a:tabLst>
            </a:pPr>
            <a:r>
              <a:rPr dirty="0" sz="1100" spc="20">
                <a:latin typeface="Times New Roman"/>
                <a:cs typeface="Times New Roman"/>
              </a:rPr>
              <a:t>A space </a:t>
            </a:r>
            <a:r>
              <a:rPr dirty="0" sz="1100" spc="10">
                <a:latin typeface="Times New Roman"/>
                <a:cs typeface="Times New Roman"/>
              </a:rPr>
              <a:t>mission </a:t>
            </a:r>
            <a:r>
              <a:rPr dirty="0" sz="1100" spc="30">
                <a:latin typeface="Times New Roman"/>
                <a:cs typeface="Times New Roman"/>
              </a:rPr>
              <a:t>concept </a:t>
            </a:r>
            <a:r>
              <a:rPr dirty="0" sz="1100" spc="35">
                <a:latin typeface="Times New Roman"/>
                <a:cs typeface="Times New Roman"/>
              </a:rPr>
              <a:t>dedicated </a:t>
            </a:r>
            <a:r>
              <a:rPr dirty="0" sz="1100" spc="55">
                <a:latin typeface="Times New Roman"/>
                <a:cs typeface="Times New Roman"/>
              </a:rPr>
              <a:t>to </a:t>
            </a:r>
            <a:r>
              <a:rPr dirty="0" sz="1100" spc="30">
                <a:latin typeface="Times New Roman"/>
                <a:cs typeface="Times New Roman"/>
              </a:rPr>
              <a:t>monitoring </a:t>
            </a:r>
            <a:r>
              <a:rPr dirty="0" sz="1100" spc="55">
                <a:latin typeface="Times New Roman"/>
                <a:cs typeface="Times New Roman"/>
              </a:rPr>
              <a:t>the </a:t>
            </a:r>
            <a:r>
              <a:rPr dirty="0" sz="1100" spc="45">
                <a:latin typeface="Times New Roman"/>
                <a:cs typeface="Times New Roman"/>
              </a:rPr>
              <a:t>transient </a:t>
            </a:r>
            <a:r>
              <a:rPr dirty="0" sz="1100" spc="35">
                <a:latin typeface="Times New Roman"/>
                <a:cs typeface="Times New Roman"/>
              </a:rPr>
              <a:t>gamma-ray </a:t>
            </a:r>
            <a:r>
              <a:rPr dirty="0" sz="1100" spc="-5">
                <a:latin typeface="Times New Roman"/>
                <a:cs typeface="Times New Roman"/>
              </a:rPr>
              <a:t>sky. </a:t>
            </a:r>
            <a:r>
              <a:rPr dirty="0" sz="1100" spc="55">
                <a:latin typeface="Times New Roman"/>
                <a:cs typeface="Times New Roman"/>
              </a:rPr>
              <a:t>Our </a:t>
            </a:r>
            <a:r>
              <a:rPr dirty="0" sz="1100" spc="30">
                <a:latin typeface="Times New Roman"/>
                <a:cs typeface="Times New Roman"/>
              </a:rPr>
              <a:t>group  </a:t>
            </a:r>
            <a:r>
              <a:rPr dirty="0" sz="1100" spc="25">
                <a:latin typeface="Times New Roman"/>
                <a:cs typeface="Times New Roman"/>
              </a:rPr>
              <a:t>in </a:t>
            </a:r>
            <a:r>
              <a:rPr dirty="0" sz="1100" spc="30">
                <a:latin typeface="Times New Roman"/>
                <a:cs typeface="Times New Roman"/>
              </a:rPr>
              <a:t>Xiamen </a:t>
            </a:r>
            <a:r>
              <a:rPr dirty="0" sz="1100" spc="20">
                <a:latin typeface="Times New Roman"/>
                <a:cs typeface="Times New Roman"/>
              </a:rPr>
              <a:t>University </a:t>
            </a:r>
            <a:r>
              <a:rPr dirty="0" sz="1100" spc="-5">
                <a:latin typeface="Times New Roman"/>
                <a:cs typeface="Times New Roman"/>
              </a:rPr>
              <a:t>is </a:t>
            </a:r>
            <a:r>
              <a:rPr dirty="0" sz="1100" spc="25">
                <a:latin typeface="Times New Roman"/>
                <a:cs typeface="Times New Roman"/>
              </a:rPr>
              <a:t>in </a:t>
            </a:r>
            <a:r>
              <a:rPr dirty="0" sz="1100" spc="20">
                <a:latin typeface="Times New Roman"/>
                <a:cs typeface="Times New Roman"/>
              </a:rPr>
              <a:t>charge </a:t>
            </a:r>
            <a:r>
              <a:rPr dirty="0" sz="1100" spc="-20">
                <a:latin typeface="Times New Roman"/>
                <a:cs typeface="Times New Roman"/>
              </a:rPr>
              <a:t>of </a:t>
            </a:r>
            <a:r>
              <a:rPr dirty="0" sz="1100" spc="70">
                <a:latin typeface="Times New Roman"/>
                <a:cs typeface="Times New Roman"/>
              </a:rPr>
              <a:t>data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20">
                <a:latin typeface="Times New Roman"/>
                <a:cs typeface="Times New Roman"/>
              </a:rPr>
              <a:t>analysis.</a:t>
            </a:r>
            <a:endParaRPr sz="1100">
              <a:latin typeface="Times New Roman"/>
              <a:cs typeface="Times New Roman"/>
            </a:endParaRPr>
          </a:p>
          <a:p>
            <a:pPr algn="just" marL="220345" marR="6350">
              <a:lnSpc>
                <a:spcPct val="102600"/>
              </a:lnSpc>
              <a:buFont typeface="Arial"/>
              <a:buChar char="•"/>
              <a:tabLst>
                <a:tab pos="346075" algn="l"/>
              </a:tabLst>
            </a:pPr>
            <a:r>
              <a:rPr dirty="0" sz="1100" spc="40">
                <a:latin typeface="Times New Roman"/>
                <a:cs typeface="Times New Roman"/>
              </a:rPr>
              <a:t>Co-author </a:t>
            </a:r>
            <a:r>
              <a:rPr dirty="0" sz="1100" spc="-20">
                <a:latin typeface="Times New Roman"/>
                <a:cs typeface="Times New Roman"/>
              </a:rPr>
              <a:t>of </a:t>
            </a:r>
            <a:r>
              <a:rPr dirty="0" sz="1100" spc="10">
                <a:latin typeface="Times New Roman"/>
                <a:cs typeface="Times New Roman"/>
              </a:rPr>
              <a:t>Wen </a:t>
            </a:r>
            <a:r>
              <a:rPr dirty="0" sz="1100" spc="75">
                <a:latin typeface="Times New Roman"/>
                <a:cs typeface="Times New Roman"/>
              </a:rPr>
              <a:t>J, </a:t>
            </a:r>
            <a:r>
              <a:rPr dirty="0" sz="1100" spc="10">
                <a:latin typeface="Times New Roman"/>
                <a:cs typeface="Times New Roman"/>
              </a:rPr>
              <a:t>Long </a:t>
            </a:r>
            <a:r>
              <a:rPr dirty="0" sz="1100" spc="25">
                <a:latin typeface="Times New Roman"/>
                <a:cs typeface="Times New Roman"/>
              </a:rPr>
              <a:t>X, </a:t>
            </a:r>
            <a:r>
              <a:rPr dirty="0" sz="1100" spc="15">
                <a:latin typeface="Times New Roman"/>
                <a:cs typeface="Times New Roman"/>
              </a:rPr>
              <a:t>Zheng </a:t>
            </a:r>
            <a:r>
              <a:rPr dirty="0" sz="1100" spc="25">
                <a:latin typeface="Times New Roman"/>
                <a:cs typeface="Times New Roman"/>
              </a:rPr>
              <a:t>X, </a:t>
            </a:r>
            <a:r>
              <a:rPr dirty="0" sz="1100" spc="55">
                <a:latin typeface="Times New Roman"/>
                <a:cs typeface="Times New Roman"/>
              </a:rPr>
              <a:t>et </a:t>
            </a:r>
            <a:r>
              <a:rPr dirty="0" sz="1100" spc="25">
                <a:latin typeface="Times New Roman"/>
                <a:cs typeface="Times New Roman"/>
              </a:rPr>
              <a:t>al. </a:t>
            </a:r>
            <a:r>
              <a:rPr dirty="0" sz="1100" spc="35">
                <a:latin typeface="Times New Roman"/>
                <a:cs typeface="Times New Roman"/>
              </a:rPr>
              <a:t>GRID: </a:t>
            </a:r>
            <a:r>
              <a:rPr dirty="0" sz="1100" spc="55">
                <a:latin typeface="Times New Roman"/>
                <a:cs typeface="Times New Roman"/>
              </a:rPr>
              <a:t>a </a:t>
            </a:r>
            <a:r>
              <a:rPr dirty="0" sz="1100" spc="50">
                <a:latin typeface="Times New Roman"/>
                <a:cs typeface="Times New Roman"/>
              </a:rPr>
              <a:t>student </a:t>
            </a:r>
            <a:r>
              <a:rPr dirty="0" sz="1100" spc="40">
                <a:latin typeface="Times New Roman"/>
                <a:cs typeface="Times New Roman"/>
              </a:rPr>
              <a:t>project </a:t>
            </a:r>
            <a:r>
              <a:rPr dirty="0" sz="1100" spc="55">
                <a:latin typeface="Times New Roman"/>
                <a:cs typeface="Times New Roman"/>
              </a:rPr>
              <a:t>to </a:t>
            </a:r>
            <a:r>
              <a:rPr dirty="0" sz="1100" spc="35">
                <a:latin typeface="Times New Roman"/>
                <a:cs typeface="Times New Roman"/>
              </a:rPr>
              <a:t>monitor </a:t>
            </a:r>
            <a:r>
              <a:rPr dirty="0" sz="1100" spc="55">
                <a:latin typeface="Times New Roman"/>
                <a:cs typeface="Times New Roman"/>
              </a:rPr>
              <a:t>the  </a:t>
            </a:r>
            <a:r>
              <a:rPr dirty="0" sz="1100" spc="45">
                <a:latin typeface="Times New Roman"/>
                <a:cs typeface="Times New Roman"/>
              </a:rPr>
              <a:t>transient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35">
                <a:latin typeface="Times New Roman"/>
                <a:cs typeface="Times New Roman"/>
              </a:rPr>
              <a:t>gamma-ray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15">
                <a:latin typeface="Times New Roman"/>
                <a:cs typeface="Times New Roman"/>
              </a:rPr>
              <a:t>sky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25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5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20">
                <a:latin typeface="Times New Roman"/>
                <a:cs typeface="Times New Roman"/>
              </a:rPr>
              <a:t>multi-messenger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35">
                <a:latin typeface="Times New Roman"/>
                <a:cs typeface="Times New Roman"/>
              </a:rPr>
              <a:t>astronomy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20">
                <a:latin typeface="Times New Roman"/>
                <a:cs typeface="Times New Roman"/>
              </a:rPr>
              <a:t>era[J].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35">
                <a:latin typeface="Times New Roman"/>
                <a:cs typeface="Times New Roman"/>
              </a:rPr>
              <a:t>Experimental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20">
                <a:latin typeface="Times New Roman"/>
                <a:cs typeface="Times New Roman"/>
              </a:rPr>
              <a:t>Astronomy,  </a:t>
            </a:r>
            <a:r>
              <a:rPr dirty="0" sz="1100">
                <a:latin typeface="Times New Roman"/>
                <a:cs typeface="Times New Roman"/>
              </a:rPr>
              <a:t>2019, </a:t>
            </a:r>
            <a:r>
              <a:rPr dirty="0" sz="1100" spc="15">
                <a:latin typeface="Times New Roman"/>
                <a:cs typeface="Times New Roman"/>
              </a:rPr>
              <a:t>48(1): </a:t>
            </a:r>
            <a:r>
              <a:rPr dirty="0" sz="1100">
                <a:latin typeface="Times New Roman"/>
                <a:cs typeface="Times New Roman"/>
              </a:rPr>
              <a:t>77-95.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"/>
              <a:buChar char="•"/>
            </a:pPr>
            <a:endParaRPr sz="1200">
              <a:latin typeface="Times New Roman"/>
              <a:cs typeface="Times New Roman"/>
            </a:endParaRPr>
          </a:p>
          <a:p>
            <a:pPr marL="220345">
              <a:lnSpc>
                <a:spcPct val="100000"/>
              </a:lnSpc>
              <a:tabLst>
                <a:tab pos="4238625" algn="l"/>
              </a:tabLst>
            </a:pPr>
            <a:r>
              <a:rPr dirty="0" sz="1100" spc="70" b="1">
                <a:latin typeface="Times New Roman"/>
                <a:cs typeface="Times New Roman"/>
              </a:rPr>
              <a:t>Cosmological </a:t>
            </a:r>
            <a:r>
              <a:rPr dirty="0" sz="1100" spc="105" b="1">
                <a:latin typeface="Times New Roman"/>
                <a:cs typeface="Times New Roman"/>
              </a:rPr>
              <a:t>N-body </a:t>
            </a:r>
            <a:r>
              <a:rPr dirty="0" sz="1100" spc="70" b="1">
                <a:latin typeface="Times New Roman"/>
                <a:cs typeface="Times New Roman"/>
              </a:rPr>
              <a:t>Simulation,</a:t>
            </a:r>
            <a:r>
              <a:rPr dirty="0" sz="1100" spc="325" b="1">
                <a:latin typeface="Times New Roman"/>
                <a:cs typeface="Times New Roman"/>
              </a:rPr>
              <a:t> </a:t>
            </a:r>
            <a:r>
              <a:rPr dirty="0" sz="1100" spc="90" b="1">
                <a:latin typeface="Times New Roman"/>
                <a:cs typeface="Times New Roman"/>
              </a:rPr>
              <a:t>Xiamen</a:t>
            </a:r>
            <a:r>
              <a:rPr dirty="0" sz="1100" spc="165" b="1">
                <a:latin typeface="Times New Roman"/>
                <a:cs typeface="Times New Roman"/>
              </a:rPr>
              <a:t> </a:t>
            </a:r>
            <a:r>
              <a:rPr dirty="0" sz="1100" spc="75" b="1">
                <a:latin typeface="Times New Roman"/>
                <a:cs typeface="Times New Roman"/>
              </a:rPr>
              <a:t>University	</a:t>
            </a:r>
            <a:r>
              <a:rPr dirty="0" sz="1100" spc="15" i="1">
                <a:latin typeface="Times New Roman"/>
                <a:cs typeface="Times New Roman"/>
              </a:rPr>
              <a:t>November </a:t>
            </a:r>
            <a:r>
              <a:rPr dirty="0" sz="1100" spc="5" i="1">
                <a:latin typeface="Times New Roman"/>
                <a:cs typeface="Times New Roman"/>
              </a:rPr>
              <a:t>2019 </a:t>
            </a:r>
            <a:r>
              <a:rPr dirty="0" sz="1100" spc="20" i="1">
                <a:latin typeface="Times New Roman"/>
                <a:cs typeface="Times New Roman"/>
              </a:rPr>
              <a:t>-</a:t>
            </a:r>
            <a:r>
              <a:rPr dirty="0" sz="1100" spc="-10" i="1">
                <a:latin typeface="Times New Roman"/>
                <a:cs typeface="Times New Roman"/>
              </a:rPr>
              <a:t> </a:t>
            </a:r>
            <a:r>
              <a:rPr dirty="0" sz="1100" spc="20" i="1">
                <a:latin typeface="Times New Roman"/>
                <a:cs typeface="Times New Roman"/>
              </a:rPr>
              <a:t>present</a:t>
            </a:r>
            <a:endParaRPr sz="1100">
              <a:latin typeface="Times New Roman"/>
              <a:cs typeface="Times New Roman"/>
            </a:endParaRPr>
          </a:p>
          <a:p>
            <a:pPr algn="just" marL="335915" indent="-116205">
              <a:lnSpc>
                <a:spcPct val="100000"/>
              </a:lnSpc>
              <a:spcBef>
                <a:spcPts val="35"/>
              </a:spcBef>
              <a:buFont typeface="Arial"/>
              <a:buChar char="•"/>
              <a:tabLst>
                <a:tab pos="336550" algn="l"/>
              </a:tabLst>
            </a:pPr>
            <a:r>
              <a:rPr dirty="0" sz="1100" spc="15">
                <a:latin typeface="Times New Roman"/>
                <a:cs typeface="Times New Roman"/>
              </a:rPr>
              <a:t>Work </a:t>
            </a:r>
            <a:r>
              <a:rPr dirty="0" sz="1100" spc="40">
                <a:latin typeface="Times New Roman"/>
                <a:cs typeface="Times New Roman"/>
              </a:rPr>
              <a:t>with </a:t>
            </a:r>
            <a:r>
              <a:rPr dirty="0" sz="1100" spc="20">
                <a:latin typeface="Times New Roman"/>
                <a:cs typeface="Times New Roman"/>
              </a:rPr>
              <a:t>Associate </a:t>
            </a:r>
            <a:r>
              <a:rPr dirty="0" sz="1100" spc="35">
                <a:latin typeface="Times New Roman"/>
                <a:cs typeface="Times New Roman"/>
              </a:rPr>
              <a:t>Prof. </a:t>
            </a:r>
            <a:r>
              <a:rPr dirty="0" sz="1100" spc="40">
                <a:latin typeface="Times New Roman"/>
                <a:cs typeface="Times New Roman"/>
              </a:rPr>
              <a:t>Haoran </a:t>
            </a:r>
            <a:r>
              <a:rPr dirty="0" sz="1100" spc="-10">
                <a:latin typeface="Times New Roman"/>
                <a:cs typeface="Times New Roman"/>
              </a:rPr>
              <a:t>Yu </a:t>
            </a:r>
            <a:r>
              <a:rPr dirty="0" sz="1100" spc="60">
                <a:latin typeface="Times New Roman"/>
                <a:cs typeface="Times New Roman"/>
              </a:rPr>
              <a:t>about </a:t>
            </a:r>
            <a:r>
              <a:rPr dirty="0" sz="1100" spc="35">
                <a:latin typeface="Times New Roman"/>
                <a:cs typeface="Times New Roman"/>
              </a:rPr>
              <a:t>N-body </a:t>
            </a:r>
            <a:r>
              <a:rPr dirty="0" sz="1100" spc="25">
                <a:latin typeface="Times New Roman"/>
                <a:cs typeface="Times New Roman"/>
              </a:rPr>
              <a:t>simulation.</a:t>
            </a:r>
            <a:endParaRPr sz="1100">
              <a:latin typeface="Times New Roman"/>
              <a:cs typeface="Times New Roman"/>
            </a:endParaRPr>
          </a:p>
          <a:p>
            <a:pPr algn="just" marL="335915" indent="-116205">
              <a:lnSpc>
                <a:spcPct val="100000"/>
              </a:lnSpc>
              <a:spcBef>
                <a:spcPts val="35"/>
              </a:spcBef>
              <a:buFont typeface="Arial"/>
              <a:buChar char="•"/>
              <a:tabLst>
                <a:tab pos="336550" algn="l"/>
              </a:tabLst>
            </a:pPr>
            <a:r>
              <a:rPr dirty="0" sz="1100" spc="20">
                <a:latin typeface="Times New Roman"/>
                <a:cs typeface="Times New Roman"/>
              </a:rPr>
              <a:t>A </a:t>
            </a:r>
            <a:r>
              <a:rPr dirty="0" sz="1100" spc="35">
                <a:latin typeface="Times New Roman"/>
                <a:cs typeface="Times New Roman"/>
              </a:rPr>
              <a:t>journal </a:t>
            </a:r>
            <a:r>
              <a:rPr dirty="0" sz="1100" spc="45">
                <a:latin typeface="Times New Roman"/>
                <a:cs typeface="Times New Roman"/>
              </a:rPr>
              <a:t>paper </a:t>
            </a:r>
            <a:r>
              <a:rPr dirty="0" sz="1100" spc="-5">
                <a:latin typeface="Times New Roman"/>
                <a:cs typeface="Times New Roman"/>
              </a:rPr>
              <a:t>is </a:t>
            </a:r>
            <a:r>
              <a:rPr dirty="0" sz="1100" spc="25">
                <a:latin typeface="Times New Roman"/>
                <a:cs typeface="Times New Roman"/>
              </a:rPr>
              <a:t>in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40">
                <a:latin typeface="Times New Roman"/>
                <a:cs typeface="Times New Roman"/>
              </a:rPr>
              <a:t>preparation.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" y="1132027"/>
            <a:ext cx="5731510" cy="0"/>
          </a:xfrm>
          <a:custGeom>
            <a:avLst/>
            <a:gdLst/>
            <a:ahLst/>
            <a:cxnLst/>
            <a:rect l="l" t="t" r="r" b="b"/>
            <a:pathLst>
              <a:path w="5731509" h="0">
                <a:moveTo>
                  <a:pt x="0" y="0"/>
                </a:moveTo>
                <a:lnTo>
                  <a:pt x="5731205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01700" y="805367"/>
            <a:ext cx="5756910" cy="724535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dirty="0" sz="1100" spc="90" b="1">
                <a:latin typeface="Times New Roman"/>
                <a:cs typeface="Times New Roman"/>
              </a:rPr>
              <a:t>RELATIVE</a:t>
            </a:r>
            <a:r>
              <a:rPr dirty="0" sz="1100" spc="135" b="1">
                <a:latin typeface="Times New Roman"/>
                <a:cs typeface="Times New Roman"/>
              </a:rPr>
              <a:t> </a:t>
            </a:r>
            <a:r>
              <a:rPr dirty="0" sz="1100" spc="114" b="1">
                <a:latin typeface="Times New Roman"/>
                <a:cs typeface="Times New Roman"/>
              </a:rPr>
              <a:t>EXPERIENCE</a:t>
            </a:r>
            <a:endParaRPr sz="1100">
              <a:latin typeface="Times New Roman"/>
              <a:cs typeface="Times New Roman"/>
            </a:endParaRPr>
          </a:p>
          <a:p>
            <a:pPr marL="220345">
              <a:lnSpc>
                <a:spcPct val="100000"/>
              </a:lnSpc>
              <a:spcBef>
                <a:spcPts val="750"/>
              </a:spcBef>
              <a:tabLst>
                <a:tab pos="4295140" algn="l"/>
              </a:tabLst>
            </a:pPr>
            <a:r>
              <a:rPr dirty="0" sz="1100" spc="85" b="1">
                <a:latin typeface="Times New Roman"/>
                <a:cs typeface="Times New Roman"/>
              </a:rPr>
              <a:t>Video </a:t>
            </a:r>
            <a:r>
              <a:rPr dirty="0" sz="1100" spc="70" b="1">
                <a:latin typeface="Times New Roman"/>
                <a:cs typeface="Times New Roman"/>
              </a:rPr>
              <a:t>Editor </a:t>
            </a:r>
            <a:r>
              <a:rPr dirty="0" sz="1100" spc="45" b="1">
                <a:latin typeface="Times New Roman"/>
                <a:cs typeface="Times New Roman"/>
              </a:rPr>
              <a:t>of  </a:t>
            </a:r>
            <a:r>
              <a:rPr dirty="0" sz="1100" spc="80" b="1">
                <a:latin typeface="Times New Roman"/>
                <a:cs typeface="Times New Roman"/>
              </a:rPr>
              <a:t>Mufu </a:t>
            </a:r>
            <a:r>
              <a:rPr dirty="0" sz="1100" spc="90" b="1">
                <a:latin typeface="Times New Roman"/>
                <a:cs typeface="Times New Roman"/>
              </a:rPr>
              <a:t>Astronomy</a:t>
            </a:r>
            <a:r>
              <a:rPr dirty="0" sz="1100" spc="170" b="1">
                <a:latin typeface="Times New Roman"/>
                <a:cs typeface="Times New Roman"/>
              </a:rPr>
              <a:t> </a:t>
            </a:r>
            <a:r>
              <a:rPr dirty="0" sz="1100" spc="90" b="1">
                <a:latin typeface="Times New Roman"/>
                <a:cs typeface="Times New Roman"/>
              </a:rPr>
              <a:t>WeChat</a:t>
            </a:r>
            <a:r>
              <a:rPr dirty="0" sz="1100" spc="155" b="1">
                <a:latin typeface="Times New Roman"/>
                <a:cs typeface="Times New Roman"/>
              </a:rPr>
              <a:t> </a:t>
            </a:r>
            <a:r>
              <a:rPr dirty="0" sz="1100" spc="70" b="1">
                <a:latin typeface="Times New Roman"/>
                <a:cs typeface="Times New Roman"/>
              </a:rPr>
              <a:t>Subscription	</a:t>
            </a:r>
            <a:r>
              <a:rPr dirty="0" sz="1100" spc="5" i="1">
                <a:latin typeface="Times New Roman"/>
                <a:cs typeface="Times New Roman"/>
              </a:rPr>
              <a:t>February 2018 </a:t>
            </a:r>
            <a:r>
              <a:rPr dirty="0" sz="1100" spc="20" i="1">
                <a:latin typeface="Times New Roman"/>
                <a:cs typeface="Times New Roman"/>
              </a:rPr>
              <a:t>-</a:t>
            </a:r>
            <a:r>
              <a:rPr dirty="0" sz="1100" spc="280" i="1">
                <a:latin typeface="Times New Roman"/>
                <a:cs typeface="Times New Roman"/>
              </a:rPr>
              <a:t> </a:t>
            </a:r>
            <a:r>
              <a:rPr dirty="0" sz="1100" spc="20" i="1">
                <a:latin typeface="Times New Roman"/>
                <a:cs typeface="Times New Roman"/>
              </a:rPr>
              <a:t>present</a:t>
            </a:r>
            <a:endParaRPr sz="1100">
              <a:latin typeface="Times New Roman"/>
              <a:cs typeface="Times New Roman"/>
            </a:endParaRPr>
          </a:p>
          <a:p>
            <a:pPr marL="351155" indent="-131445">
              <a:lnSpc>
                <a:spcPct val="100000"/>
              </a:lnSpc>
              <a:spcBef>
                <a:spcPts val="35"/>
              </a:spcBef>
              <a:buFont typeface="Arial"/>
              <a:buChar char="•"/>
              <a:tabLst>
                <a:tab pos="351790" algn="l"/>
              </a:tabLst>
            </a:pPr>
            <a:r>
              <a:rPr dirty="0" sz="1100" spc="20">
                <a:latin typeface="Times New Roman"/>
                <a:cs typeface="Times New Roman"/>
              </a:rPr>
              <a:t>Mufu </a:t>
            </a:r>
            <a:r>
              <a:rPr dirty="0" sz="1100" spc="30">
                <a:latin typeface="Times New Roman"/>
                <a:cs typeface="Times New Roman"/>
              </a:rPr>
              <a:t>Astronomy </a:t>
            </a:r>
            <a:r>
              <a:rPr dirty="0" sz="1100" spc="20">
                <a:latin typeface="Times New Roman"/>
                <a:cs typeface="Times New Roman"/>
              </a:rPr>
              <a:t>BBS </a:t>
            </a:r>
            <a:r>
              <a:rPr dirty="0" sz="1100" spc="-5">
                <a:latin typeface="Times New Roman"/>
                <a:cs typeface="Times New Roman"/>
              </a:rPr>
              <a:t>is </a:t>
            </a:r>
            <a:r>
              <a:rPr dirty="0" sz="1100" spc="55">
                <a:latin typeface="Times New Roman"/>
                <a:cs typeface="Times New Roman"/>
              </a:rPr>
              <a:t>the </a:t>
            </a:r>
            <a:r>
              <a:rPr dirty="0" sz="1100" spc="20">
                <a:latin typeface="Times New Roman"/>
                <a:cs typeface="Times New Roman"/>
              </a:rPr>
              <a:t>biggest </a:t>
            </a:r>
            <a:r>
              <a:rPr dirty="0" sz="1100" spc="35">
                <a:latin typeface="Times New Roman"/>
                <a:cs typeface="Times New Roman"/>
              </a:rPr>
              <a:t>astronomy </a:t>
            </a:r>
            <a:r>
              <a:rPr dirty="0" sz="1100" spc="45">
                <a:latin typeface="Times New Roman"/>
                <a:cs typeface="Times New Roman"/>
              </a:rPr>
              <a:t>internet </a:t>
            </a:r>
            <a:r>
              <a:rPr dirty="0" sz="1100" spc="25">
                <a:latin typeface="Times New Roman"/>
                <a:cs typeface="Times New Roman"/>
              </a:rPr>
              <a:t>forum in </a:t>
            </a:r>
            <a:r>
              <a:rPr dirty="0" sz="1100" spc="40">
                <a:latin typeface="Times New Roman"/>
                <a:cs typeface="Times New Roman"/>
              </a:rPr>
              <a:t>China, </a:t>
            </a:r>
            <a:r>
              <a:rPr dirty="0" sz="1100" spc="30">
                <a:latin typeface="Times New Roman"/>
                <a:cs typeface="Times New Roman"/>
              </a:rPr>
              <a:t>teaching</a:t>
            </a:r>
            <a:r>
              <a:rPr dirty="0" sz="1100" spc="-120">
                <a:latin typeface="Times New Roman"/>
                <a:cs typeface="Times New Roman"/>
              </a:rPr>
              <a:t> </a:t>
            </a:r>
            <a:r>
              <a:rPr dirty="0" sz="1100" spc="55">
                <a:latin typeface="Times New Roman"/>
                <a:cs typeface="Times New Roman"/>
              </a:rPr>
              <a:t>the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9510" y="1509711"/>
            <a:ext cx="4125595" cy="708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25">
                <a:latin typeface="Times New Roman"/>
                <a:cs typeface="Times New Roman"/>
              </a:rPr>
              <a:t>public </a:t>
            </a:r>
            <a:r>
              <a:rPr dirty="0" sz="1100" spc="10">
                <a:latin typeface="Times New Roman"/>
                <a:cs typeface="Times New Roman"/>
              </a:rPr>
              <a:t>some </a:t>
            </a:r>
            <a:r>
              <a:rPr dirty="0" sz="1100" spc="5">
                <a:latin typeface="Times New Roman"/>
                <a:cs typeface="Times New Roman"/>
              </a:rPr>
              <a:t>knowledge </a:t>
            </a:r>
            <a:r>
              <a:rPr dirty="0" sz="1100" spc="60">
                <a:latin typeface="Times New Roman"/>
                <a:cs typeface="Times New Roman"/>
              </a:rPr>
              <a:t>about</a:t>
            </a:r>
            <a:r>
              <a:rPr dirty="0" sz="1100" spc="295">
                <a:latin typeface="Times New Roman"/>
                <a:cs typeface="Times New Roman"/>
              </a:rPr>
              <a:t> </a:t>
            </a:r>
            <a:r>
              <a:rPr dirty="0" sz="1100" spc="25">
                <a:latin typeface="Times New Roman"/>
                <a:cs typeface="Times New Roman"/>
              </a:rPr>
              <a:t>astronomy.</a:t>
            </a:r>
            <a:endParaRPr sz="1100">
              <a:latin typeface="Times New Roman"/>
              <a:cs typeface="Times New Roman"/>
            </a:endParaRPr>
          </a:p>
          <a:p>
            <a:pPr marL="127635" indent="-115570">
              <a:lnSpc>
                <a:spcPct val="100000"/>
              </a:lnSpc>
              <a:spcBef>
                <a:spcPts val="35"/>
              </a:spcBef>
              <a:buFont typeface="Arial"/>
              <a:buChar char="•"/>
              <a:tabLst>
                <a:tab pos="128270" algn="l"/>
              </a:tabLst>
            </a:pPr>
            <a:r>
              <a:rPr dirty="0" sz="1100" spc="35">
                <a:latin typeface="Times New Roman"/>
                <a:cs typeface="Times New Roman"/>
              </a:rPr>
              <a:t>Translating </a:t>
            </a:r>
            <a:r>
              <a:rPr dirty="0" sz="1100" spc="55">
                <a:latin typeface="Times New Roman"/>
                <a:cs typeface="Times New Roman"/>
              </a:rPr>
              <a:t>and </a:t>
            </a:r>
            <a:r>
              <a:rPr dirty="0" sz="1100" spc="30">
                <a:latin typeface="Times New Roman"/>
                <a:cs typeface="Times New Roman"/>
              </a:rPr>
              <a:t>making </a:t>
            </a:r>
            <a:r>
              <a:rPr dirty="0" sz="1100" spc="10">
                <a:latin typeface="Times New Roman"/>
                <a:cs typeface="Times New Roman"/>
              </a:rPr>
              <a:t>video </a:t>
            </a:r>
            <a:r>
              <a:rPr dirty="0" sz="1100" spc="60">
                <a:latin typeface="Times New Roman"/>
                <a:cs typeface="Times New Roman"/>
              </a:rPr>
              <a:t>about </a:t>
            </a:r>
            <a:r>
              <a:rPr dirty="0" sz="1100" spc="30">
                <a:latin typeface="Times New Roman"/>
                <a:cs typeface="Times New Roman"/>
              </a:rPr>
              <a:t>astronomical</a:t>
            </a:r>
            <a:r>
              <a:rPr dirty="0" sz="1100" spc="330">
                <a:latin typeface="Times New Roman"/>
                <a:cs typeface="Times New Roman"/>
              </a:rPr>
              <a:t> </a:t>
            </a:r>
            <a:r>
              <a:rPr dirty="0" sz="1100" spc="35">
                <a:latin typeface="Times New Roman"/>
                <a:cs typeface="Times New Roman"/>
              </a:rPr>
              <a:t>popularization.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90"/>
              </a:spcBef>
            </a:pPr>
            <a:r>
              <a:rPr dirty="0" sz="1100" spc="65" b="1">
                <a:latin typeface="Times New Roman"/>
                <a:cs typeface="Times New Roman"/>
              </a:rPr>
              <a:t>Internship </a:t>
            </a:r>
            <a:r>
              <a:rPr dirty="0" sz="1100" spc="60" b="1">
                <a:latin typeface="Times New Roman"/>
                <a:cs typeface="Times New Roman"/>
              </a:rPr>
              <a:t>in </a:t>
            </a:r>
            <a:r>
              <a:rPr dirty="0" sz="1100" spc="70" b="1">
                <a:latin typeface="Times New Roman"/>
                <a:cs typeface="Times New Roman"/>
              </a:rPr>
              <a:t>Shanghai </a:t>
            </a:r>
            <a:r>
              <a:rPr dirty="0" sz="1100" spc="75" b="1">
                <a:latin typeface="Times New Roman"/>
                <a:cs typeface="Times New Roman"/>
              </a:rPr>
              <a:t>Astronomical </a:t>
            </a:r>
            <a:r>
              <a:rPr dirty="0" sz="1100" spc="60" b="1">
                <a:latin typeface="Times New Roman"/>
                <a:cs typeface="Times New Roman"/>
              </a:rPr>
              <a:t>Observatory,</a:t>
            </a:r>
            <a:r>
              <a:rPr dirty="0" sz="1100" spc="125" b="1">
                <a:latin typeface="Times New Roman"/>
                <a:cs typeface="Times New Roman"/>
              </a:rPr>
              <a:t> </a:t>
            </a:r>
            <a:r>
              <a:rPr dirty="0" sz="1100" spc="114" b="1">
                <a:latin typeface="Times New Roman"/>
                <a:cs typeface="Times New Roman"/>
              </a:rPr>
              <a:t>CAS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85802" y="2025928"/>
            <a:ext cx="972819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20" i="1">
                <a:latin typeface="Times New Roman"/>
                <a:cs typeface="Times New Roman"/>
              </a:rPr>
              <a:t>September</a:t>
            </a:r>
            <a:r>
              <a:rPr dirty="0" sz="1100" spc="50" i="1">
                <a:latin typeface="Times New Roman"/>
                <a:cs typeface="Times New Roman"/>
              </a:rPr>
              <a:t> </a:t>
            </a:r>
            <a:r>
              <a:rPr dirty="0" sz="1100" spc="5" i="1">
                <a:latin typeface="Times New Roman"/>
                <a:cs typeface="Times New Roman"/>
              </a:rPr>
              <a:t>2018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09510" y="2198013"/>
            <a:ext cx="5551805" cy="242887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7620">
              <a:lnSpc>
                <a:spcPct val="102600"/>
              </a:lnSpc>
              <a:spcBef>
                <a:spcPts val="55"/>
              </a:spcBef>
              <a:buFont typeface="Arial"/>
              <a:buChar char="•"/>
              <a:tabLst>
                <a:tab pos="127635" algn="l"/>
              </a:tabLst>
            </a:pPr>
            <a:r>
              <a:rPr dirty="0" sz="1100" spc="25">
                <a:latin typeface="Times New Roman"/>
                <a:cs typeface="Times New Roman"/>
              </a:rPr>
              <a:t>Visited </a:t>
            </a:r>
            <a:r>
              <a:rPr dirty="0" sz="1100" spc="55">
                <a:latin typeface="Times New Roman"/>
                <a:cs typeface="Times New Roman"/>
              </a:rPr>
              <a:t>the </a:t>
            </a:r>
            <a:r>
              <a:rPr dirty="0" sz="1100" spc="15">
                <a:latin typeface="Times New Roman"/>
                <a:cs typeface="Times New Roman"/>
              </a:rPr>
              <a:t>telescopes </a:t>
            </a:r>
            <a:r>
              <a:rPr dirty="0" sz="1100" spc="50">
                <a:latin typeface="Times New Roman"/>
                <a:cs typeface="Times New Roman"/>
              </a:rPr>
              <a:t>and </a:t>
            </a:r>
            <a:r>
              <a:rPr dirty="0" sz="1100" spc="40">
                <a:latin typeface="Times New Roman"/>
                <a:cs typeface="Times New Roman"/>
              </a:rPr>
              <a:t>learnt </a:t>
            </a:r>
            <a:r>
              <a:rPr dirty="0" sz="1100" spc="55">
                <a:latin typeface="Times New Roman"/>
                <a:cs typeface="Times New Roman"/>
              </a:rPr>
              <a:t>the </a:t>
            </a:r>
            <a:r>
              <a:rPr dirty="0" sz="1100" spc="30">
                <a:latin typeface="Times New Roman"/>
                <a:cs typeface="Times New Roman"/>
              </a:rPr>
              <a:t>outline </a:t>
            </a:r>
            <a:r>
              <a:rPr dirty="0" sz="1100" spc="-20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how </a:t>
            </a:r>
            <a:r>
              <a:rPr dirty="0" sz="1100" spc="55">
                <a:latin typeface="Times New Roman"/>
                <a:cs typeface="Times New Roman"/>
              </a:rPr>
              <a:t>to </a:t>
            </a:r>
            <a:r>
              <a:rPr dirty="0" sz="1100" spc="20">
                <a:latin typeface="Times New Roman"/>
                <a:cs typeface="Times New Roman"/>
              </a:rPr>
              <a:t>analysis </a:t>
            </a:r>
            <a:r>
              <a:rPr dirty="0" sz="1100" spc="55">
                <a:latin typeface="Times New Roman"/>
                <a:cs typeface="Times New Roman"/>
              </a:rPr>
              <a:t>the </a:t>
            </a:r>
            <a:r>
              <a:rPr dirty="0" sz="1100" spc="70">
                <a:latin typeface="Times New Roman"/>
                <a:cs typeface="Times New Roman"/>
              </a:rPr>
              <a:t>data </a:t>
            </a:r>
            <a:r>
              <a:rPr dirty="0" sz="1100" spc="-20">
                <a:latin typeface="Times New Roman"/>
                <a:cs typeface="Times New Roman"/>
              </a:rPr>
              <a:t>of </a:t>
            </a:r>
            <a:r>
              <a:rPr dirty="0" sz="1100" spc="55">
                <a:latin typeface="Times New Roman"/>
                <a:cs typeface="Times New Roman"/>
              </a:rPr>
              <a:t>the </a:t>
            </a:r>
            <a:r>
              <a:rPr dirty="0" sz="1100" spc="30">
                <a:latin typeface="Times New Roman"/>
                <a:cs typeface="Times New Roman"/>
              </a:rPr>
              <a:t>radio </a:t>
            </a:r>
            <a:r>
              <a:rPr dirty="0" sz="1100" spc="20">
                <a:latin typeface="Times New Roman"/>
                <a:cs typeface="Times New Roman"/>
              </a:rPr>
              <a:t>tele-  </a:t>
            </a:r>
            <a:r>
              <a:rPr dirty="0" sz="1100" spc="15">
                <a:latin typeface="Times New Roman"/>
                <a:cs typeface="Times New Roman"/>
              </a:rPr>
              <a:t>scope.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  <a:tabLst>
                <a:tab pos="3839210" algn="l"/>
              </a:tabLst>
            </a:pPr>
            <a:r>
              <a:rPr dirty="0" sz="1100" spc="80" b="1">
                <a:latin typeface="Times New Roman"/>
                <a:cs typeface="Times New Roman"/>
              </a:rPr>
              <a:t>President </a:t>
            </a:r>
            <a:r>
              <a:rPr dirty="0" sz="1100" spc="45" b="1">
                <a:latin typeface="Times New Roman"/>
                <a:cs typeface="Times New Roman"/>
              </a:rPr>
              <a:t>of  </a:t>
            </a:r>
            <a:r>
              <a:rPr dirty="0" sz="1100" spc="90" b="1">
                <a:latin typeface="Times New Roman"/>
                <a:cs typeface="Times New Roman"/>
              </a:rPr>
              <a:t>Xiamen </a:t>
            </a:r>
            <a:r>
              <a:rPr dirty="0" sz="1100" spc="75" b="1">
                <a:latin typeface="Times New Roman"/>
                <a:cs typeface="Times New Roman"/>
              </a:rPr>
              <a:t>University</a:t>
            </a:r>
            <a:r>
              <a:rPr dirty="0" sz="1100" spc="80" b="1">
                <a:latin typeface="Times New Roman"/>
                <a:cs typeface="Times New Roman"/>
              </a:rPr>
              <a:t> </a:t>
            </a:r>
            <a:r>
              <a:rPr dirty="0" sz="1100" spc="90" b="1">
                <a:latin typeface="Times New Roman"/>
                <a:cs typeface="Times New Roman"/>
              </a:rPr>
              <a:t>Astronomy</a:t>
            </a:r>
            <a:r>
              <a:rPr dirty="0" sz="1100" spc="155" b="1">
                <a:latin typeface="Times New Roman"/>
                <a:cs typeface="Times New Roman"/>
              </a:rPr>
              <a:t> </a:t>
            </a:r>
            <a:r>
              <a:rPr dirty="0" sz="1100" spc="80" b="1">
                <a:latin typeface="Times New Roman"/>
                <a:cs typeface="Times New Roman"/>
              </a:rPr>
              <a:t>Club	</a:t>
            </a:r>
            <a:r>
              <a:rPr dirty="0" sz="1100" spc="45" i="1">
                <a:latin typeface="Times New Roman"/>
                <a:cs typeface="Times New Roman"/>
              </a:rPr>
              <a:t>June </a:t>
            </a:r>
            <a:r>
              <a:rPr dirty="0" sz="1100" spc="5" i="1">
                <a:latin typeface="Times New Roman"/>
                <a:cs typeface="Times New Roman"/>
              </a:rPr>
              <a:t>2018 </a:t>
            </a:r>
            <a:r>
              <a:rPr dirty="0" sz="1100" spc="20" i="1">
                <a:latin typeface="Times New Roman"/>
                <a:cs typeface="Times New Roman"/>
              </a:rPr>
              <a:t>- </a:t>
            </a:r>
            <a:r>
              <a:rPr dirty="0" sz="1100" spc="15" i="1">
                <a:latin typeface="Times New Roman"/>
                <a:cs typeface="Times New Roman"/>
              </a:rPr>
              <a:t>November</a:t>
            </a:r>
            <a:r>
              <a:rPr dirty="0" sz="1100" spc="80" i="1">
                <a:latin typeface="Times New Roman"/>
                <a:cs typeface="Times New Roman"/>
              </a:rPr>
              <a:t> </a:t>
            </a:r>
            <a:r>
              <a:rPr dirty="0" sz="1100" spc="5" i="1">
                <a:latin typeface="Times New Roman"/>
                <a:cs typeface="Times New Roman"/>
              </a:rPr>
              <a:t>2019</a:t>
            </a:r>
            <a:endParaRPr sz="1100">
              <a:latin typeface="Times New Roman"/>
              <a:cs typeface="Times New Roman"/>
            </a:endParaRPr>
          </a:p>
          <a:p>
            <a:pPr marL="127635" indent="-115570">
              <a:lnSpc>
                <a:spcPct val="100000"/>
              </a:lnSpc>
              <a:spcBef>
                <a:spcPts val="35"/>
              </a:spcBef>
              <a:buFont typeface="Arial"/>
              <a:buChar char="•"/>
              <a:tabLst>
                <a:tab pos="128270" algn="l"/>
              </a:tabLst>
            </a:pPr>
            <a:r>
              <a:rPr dirty="0" sz="1100" spc="20">
                <a:latin typeface="Times New Roman"/>
                <a:cs typeface="Times New Roman"/>
              </a:rPr>
              <a:t>Giving </a:t>
            </a:r>
            <a:r>
              <a:rPr dirty="0" sz="1100" spc="25">
                <a:latin typeface="Times New Roman"/>
                <a:cs typeface="Times New Roman"/>
              </a:rPr>
              <a:t>lectures </a:t>
            </a:r>
            <a:r>
              <a:rPr dirty="0" sz="1100" spc="60">
                <a:latin typeface="Times New Roman"/>
                <a:cs typeface="Times New Roman"/>
              </a:rPr>
              <a:t>about </a:t>
            </a:r>
            <a:r>
              <a:rPr dirty="0" sz="1100" spc="35">
                <a:latin typeface="Times New Roman"/>
                <a:cs typeface="Times New Roman"/>
              </a:rPr>
              <a:t>astronomy </a:t>
            </a:r>
            <a:r>
              <a:rPr dirty="0" sz="1100" spc="25">
                <a:latin typeface="Times New Roman"/>
                <a:cs typeface="Times New Roman"/>
              </a:rPr>
              <a:t>in</a:t>
            </a:r>
            <a:r>
              <a:rPr dirty="0" sz="1100" spc="290">
                <a:latin typeface="Times New Roman"/>
                <a:cs typeface="Times New Roman"/>
              </a:rPr>
              <a:t> </a:t>
            </a:r>
            <a:r>
              <a:rPr dirty="0" sz="1100" spc="30">
                <a:latin typeface="Times New Roman"/>
                <a:cs typeface="Times New Roman"/>
              </a:rPr>
              <a:t>campus.</a:t>
            </a:r>
            <a:endParaRPr sz="1100">
              <a:latin typeface="Times New Roman"/>
              <a:cs typeface="Times New Roman"/>
            </a:endParaRPr>
          </a:p>
          <a:p>
            <a:pPr marL="127635" indent="-115570">
              <a:lnSpc>
                <a:spcPct val="100000"/>
              </a:lnSpc>
              <a:spcBef>
                <a:spcPts val="35"/>
              </a:spcBef>
              <a:buFont typeface="Arial"/>
              <a:buChar char="•"/>
              <a:tabLst>
                <a:tab pos="128270" algn="l"/>
              </a:tabLst>
            </a:pPr>
            <a:r>
              <a:rPr dirty="0" sz="1100" spc="25">
                <a:latin typeface="Times New Roman"/>
                <a:cs typeface="Times New Roman"/>
              </a:rPr>
              <a:t>Organizing </a:t>
            </a:r>
            <a:r>
              <a:rPr dirty="0" sz="1100" spc="30">
                <a:latin typeface="Times New Roman"/>
                <a:cs typeface="Times New Roman"/>
              </a:rPr>
              <a:t>activities </a:t>
            </a:r>
            <a:r>
              <a:rPr dirty="0" sz="1100" spc="85">
                <a:latin typeface="Times New Roman"/>
                <a:cs typeface="Times New Roman"/>
              </a:rPr>
              <a:t>that </a:t>
            </a:r>
            <a:r>
              <a:rPr dirty="0" sz="1100">
                <a:latin typeface="Times New Roman"/>
                <a:cs typeface="Times New Roman"/>
              </a:rPr>
              <a:t>allow </a:t>
            </a:r>
            <a:r>
              <a:rPr dirty="0" sz="1100" spc="45">
                <a:latin typeface="Times New Roman"/>
                <a:cs typeface="Times New Roman"/>
              </a:rPr>
              <a:t>students </a:t>
            </a:r>
            <a:r>
              <a:rPr dirty="0" sz="1100" spc="55">
                <a:latin typeface="Times New Roman"/>
                <a:cs typeface="Times New Roman"/>
              </a:rPr>
              <a:t>to </a:t>
            </a:r>
            <a:r>
              <a:rPr dirty="0" sz="1100" spc="30">
                <a:latin typeface="Times New Roman"/>
                <a:cs typeface="Times New Roman"/>
              </a:rPr>
              <a:t>watch </a:t>
            </a:r>
            <a:r>
              <a:rPr dirty="0" sz="1100" spc="55">
                <a:latin typeface="Times New Roman"/>
                <a:cs typeface="Times New Roman"/>
              </a:rPr>
              <a:t>the </a:t>
            </a:r>
            <a:r>
              <a:rPr dirty="0" sz="1100" spc="15">
                <a:latin typeface="Times New Roman"/>
                <a:cs typeface="Times New Roman"/>
              </a:rPr>
              <a:t>sky </a:t>
            </a:r>
            <a:r>
              <a:rPr dirty="0" sz="1100" spc="20">
                <a:latin typeface="Times New Roman"/>
                <a:cs typeface="Times New Roman"/>
              </a:rPr>
              <a:t>using </a:t>
            </a:r>
            <a:r>
              <a:rPr dirty="0" sz="1100" spc="35">
                <a:latin typeface="Times New Roman"/>
                <a:cs typeface="Times New Roman"/>
              </a:rPr>
              <a:t>our</a:t>
            </a:r>
            <a:r>
              <a:rPr dirty="0" sz="1100" spc="300">
                <a:latin typeface="Times New Roman"/>
                <a:cs typeface="Times New Roman"/>
              </a:rPr>
              <a:t> </a:t>
            </a:r>
            <a:r>
              <a:rPr dirty="0" sz="1100" spc="15">
                <a:latin typeface="Times New Roman"/>
                <a:cs typeface="Times New Roman"/>
              </a:rPr>
              <a:t>telescopes.</a:t>
            </a:r>
            <a:endParaRPr sz="1100">
              <a:latin typeface="Times New Roman"/>
              <a:cs typeface="Times New Roman"/>
            </a:endParaRPr>
          </a:p>
          <a:p>
            <a:pPr marL="127635" indent="-115570">
              <a:lnSpc>
                <a:spcPct val="100000"/>
              </a:lnSpc>
              <a:spcBef>
                <a:spcPts val="35"/>
              </a:spcBef>
              <a:buFont typeface="Arial"/>
              <a:buChar char="•"/>
              <a:tabLst>
                <a:tab pos="128270" algn="l"/>
              </a:tabLst>
            </a:pPr>
            <a:r>
              <a:rPr dirty="0" sz="1100" spc="15">
                <a:latin typeface="Times New Roman"/>
                <a:cs typeface="Times New Roman"/>
              </a:rPr>
              <a:t>Held </a:t>
            </a:r>
            <a:r>
              <a:rPr dirty="0" sz="1100" spc="30">
                <a:latin typeface="Times New Roman"/>
                <a:cs typeface="Times New Roman"/>
              </a:rPr>
              <a:t>Astronomy </a:t>
            </a:r>
            <a:r>
              <a:rPr dirty="0" sz="1100" spc="10">
                <a:latin typeface="Times New Roman"/>
                <a:cs typeface="Times New Roman"/>
              </a:rPr>
              <a:t>Knowledge </a:t>
            </a:r>
            <a:r>
              <a:rPr dirty="0" sz="1100" spc="40">
                <a:latin typeface="Times New Roman"/>
                <a:cs typeface="Times New Roman"/>
              </a:rPr>
              <a:t>Contest </a:t>
            </a:r>
            <a:r>
              <a:rPr dirty="0" sz="1100" spc="5">
                <a:latin typeface="Times New Roman"/>
                <a:cs typeface="Times New Roman"/>
              </a:rPr>
              <a:t>for </a:t>
            </a:r>
            <a:r>
              <a:rPr dirty="0" sz="1100">
                <a:latin typeface="Times New Roman"/>
                <a:cs typeface="Times New Roman"/>
              </a:rPr>
              <a:t>College </a:t>
            </a:r>
            <a:r>
              <a:rPr dirty="0" sz="1100" spc="45">
                <a:latin typeface="Times New Roman"/>
                <a:cs typeface="Times New Roman"/>
              </a:rPr>
              <a:t>Students </a:t>
            </a:r>
            <a:r>
              <a:rPr dirty="0" sz="1100" spc="25">
                <a:latin typeface="Times New Roman"/>
                <a:cs typeface="Times New Roman"/>
              </a:rPr>
              <a:t>in</a:t>
            </a:r>
            <a:r>
              <a:rPr dirty="0" sz="1100" spc="270">
                <a:latin typeface="Times New Roman"/>
                <a:cs typeface="Times New Roman"/>
              </a:rPr>
              <a:t> </a:t>
            </a:r>
            <a:r>
              <a:rPr dirty="0" sz="1100" spc="25">
                <a:latin typeface="Times New Roman"/>
                <a:cs typeface="Times New Roman"/>
              </a:rPr>
              <a:t>Xiamen.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90"/>
              </a:spcBef>
              <a:tabLst>
                <a:tab pos="4788535" algn="l"/>
              </a:tabLst>
            </a:pPr>
            <a:r>
              <a:rPr dirty="0" sz="1100" spc="90" b="1">
                <a:latin typeface="Times New Roman"/>
                <a:cs typeface="Times New Roman"/>
              </a:rPr>
              <a:t>Summer </a:t>
            </a:r>
            <a:r>
              <a:rPr dirty="0" sz="1100" spc="85" b="1">
                <a:latin typeface="Times New Roman"/>
                <a:cs typeface="Times New Roman"/>
              </a:rPr>
              <a:t>Programme </a:t>
            </a:r>
            <a:r>
              <a:rPr dirty="0" sz="1100" spc="60" b="1">
                <a:latin typeface="Times New Roman"/>
                <a:cs typeface="Times New Roman"/>
              </a:rPr>
              <a:t>in </a:t>
            </a:r>
            <a:r>
              <a:rPr dirty="0" sz="1100" spc="70" b="1">
                <a:latin typeface="Times New Roman"/>
                <a:cs typeface="Times New Roman"/>
              </a:rPr>
              <a:t>Cambridge</a:t>
            </a:r>
            <a:r>
              <a:rPr dirty="0" sz="1100" spc="405" b="1">
                <a:latin typeface="Times New Roman"/>
                <a:cs typeface="Times New Roman"/>
              </a:rPr>
              <a:t> </a:t>
            </a:r>
            <a:r>
              <a:rPr dirty="0" sz="1100" spc="65" b="1">
                <a:latin typeface="Times New Roman"/>
                <a:cs typeface="Times New Roman"/>
              </a:rPr>
              <a:t>University,</a:t>
            </a:r>
            <a:r>
              <a:rPr dirty="0" sz="1100" spc="160" b="1">
                <a:latin typeface="Times New Roman"/>
                <a:cs typeface="Times New Roman"/>
              </a:rPr>
              <a:t> </a:t>
            </a:r>
            <a:r>
              <a:rPr dirty="0" sz="1100" spc="145" b="1">
                <a:latin typeface="Times New Roman"/>
                <a:cs typeface="Times New Roman"/>
              </a:rPr>
              <a:t>UK	</a:t>
            </a:r>
            <a:r>
              <a:rPr dirty="0" sz="1100" spc="30" i="1">
                <a:latin typeface="Times New Roman"/>
                <a:cs typeface="Times New Roman"/>
              </a:rPr>
              <a:t>August</a:t>
            </a:r>
            <a:r>
              <a:rPr dirty="0" sz="1100" spc="65" i="1">
                <a:latin typeface="Times New Roman"/>
                <a:cs typeface="Times New Roman"/>
              </a:rPr>
              <a:t> </a:t>
            </a:r>
            <a:r>
              <a:rPr dirty="0" sz="1100" spc="5" i="1">
                <a:latin typeface="Times New Roman"/>
                <a:cs typeface="Times New Roman"/>
              </a:rPr>
              <a:t>2019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02600"/>
              </a:lnSpc>
              <a:buFont typeface="Arial"/>
              <a:buChar char="•"/>
              <a:tabLst>
                <a:tab pos="113030" algn="l"/>
              </a:tabLst>
            </a:pPr>
            <a:r>
              <a:rPr dirty="0" sz="1100" spc="30">
                <a:latin typeface="Times New Roman"/>
                <a:cs typeface="Times New Roman"/>
              </a:rPr>
              <a:t>Went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55">
                <a:latin typeface="Times New Roman"/>
                <a:cs typeface="Times New Roman"/>
              </a:rPr>
              <a:t>to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30">
                <a:latin typeface="Times New Roman"/>
                <a:cs typeface="Times New Roman"/>
              </a:rPr>
              <a:t>Cambridge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55">
                <a:latin typeface="Times New Roman"/>
                <a:cs typeface="Times New Roman"/>
              </a:rPr>
              <a:t>to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15">
                <a:latin typeface="Times New Roman"/>
                <a:cs typeface="Times New Roman"/>
              </a:rPr>
              <a:t>have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10">
                <a:latin typeface="Times New Roman"/>
                <a:cs typeface="Times New Roman"/>
              </a:rPr>
              <a:t>some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25">
                <a:latin typeface="Times New Roman"/>
                <a:cs typeface="Times New Roman"/>
              </a:rPr>
              <a:t>lectures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60">
                <a:latin typeface="Times New Roman"/>
                <a:cs typeface="Times New Roman"/>
              </a:rPr>
              <a:t>about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20">
                <a:latin typeface="Times New Roman"/>
                <a:cs typeface="Times New Roman"/>
              </a:rPr>
              <a:t>artificial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10">
                <a:latin typeface="Times New Roman"/>
                <a:cs typeface="Times New Roman"/>
              </a:rPr>
              <a:t>intelligence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55">
                <a:latin typeface="Times New Roman"/>
                <a:cs typeface="Times New Roman"/>
              </a:rPr>
              <a:t>and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25">
                <a:latin typeface="Times New Roman"/>
                <a:cs typeface="Times New Roman"/>
              </a:rPr>
              <a:t>Visited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25">
                <a:latin typeface="Times New Roman"/>
                <a:cs typeface="Times New Roman"/>
              </a:rPr>
              <a:t>Cavendish  </a:t>
            </a:r>
            <a:r>
              <a:rPr dirty="0" sz="1100" spc="35">
                <a:latin typeface="Times New Roman"/>
                <a:cs typeface="Times New Roman"/>
              </a:rPr>
              <a:t>Laboratory.</a:t>
            </a:r>
            <a:endParaRPr sz="1100">
              <a:latin typeface="Times New Roman"/>
              <a:cs typeface="Times New Roman"/>
            </a:endParaRPr>
          </a:p>
          <a:p>
            <a:pPr marL="12700" marR="7620">
              <a:lnSpc>
                <a:spcPct val="102600"/>
              </a:lnSpc>
              <a:buFont typeface="Arial"/>
              <a:buChar char="•"/>
              <a:tabLst>
                <a:tab pos="127635" algn="l"/>
              </a:tabLst>
            </a:pPr>
            <a:r>
              <a:rPr dirty="0" sz="1100" spc="30">
                <a:latin typeface="Times New Roman"/>
                <a:cs typeface="Times New Roman"/>
              </a:rPr>
              <a:t>Finished </a:t>
            </a:r>
            <a:r>
              <a:rPr dirty="0" sz="1100" spc="55">
                <a:latin typeface="Times New Roman"/>
                <a:cs typeface="Times New Roman"/>
              </a:rPr>
              <a:t>a </a:t>
            </a:r>
            <a:r>
              <a:rPr dirty="0" sz="1100" spc="20">
                <a:latin typeface="Times New Roman"/>
                <a:cs typeface="Times New Roman"/>
              </a:rPr>
              <a:t>small </a:t>
            </a:r>
            <a:r>
              <a:rPr dirty="0" sz="1100" spc="40">
                <a:latin typeface="Times New Roman"/>
                <a:cs typeface="Times New Roman"/>
              </a:rPr>
              <a:t>project </a:t>
            </a:r>
            <a:r>
              <a:rPr dirty="0" sz="1100" spc="60">
                <a:latin typeface="Times New Roman"/>
                <a:cs typeface="Times New Roman"/>
              </a:rPr>
              <a:t>about </a:t>
            </a:r>
            <a:r>
              <a:rPr dirty="0" sz="1100" spc="55">
                <a:latin typeface="Times New Roman"/>
                <a:cs typeface="Times New Roman"/>
              </a:rPr>
              <a:t>the </a:t>
            </a:r>
            <a:r>
              <a:rPr dirty="0" sz="1100" spc="20">
                <a:latin typeface="Times New Roman"/>
                <a:cs typeface="Times New Roman"/>
              </a:rPr>
              <a:t>Machine </a:t>
            </a:r>
            <a:r>
              <a:rPr dirty="0" sz="1100" spc="25">
                <a:latin typeface="Times New Roman"/>
                <a:cs typeface="Times New Roman"/>
              </a:rPr>
              <a:t>Learning in </a:t>
            </a:r>
            <a:r>
              <a:rPr dirty="0" sz="1100" spc="30">
                <a:latin typeface="Times New Roman"/>
                <a:cs typeface="Times New Roman"/>
              </a:rPr>
              <a:t>multi-person </a:t>
            </a:r>
            <a:r>
              <a:rPr dirty="0" sz="1100" spc="15">
                <a:latin typeface="Times New Roman"/>
                <a:cs typeface="Times New Roman"/>
              </a:rPr>
              <a:t>2D pose </a:t>
            </a:r>
            <a:r>
              <a:rPr dirty="0" sz="1100" spc="35">
                <a:latin typeface="Times New Roman"/>
                <a:cs typeface="Times New Roman"/>
              </a:rPr>
              <a:t>estimation  </a:t>
            </a:r>
            <a:r>
              <a:rPr dirty="0" sz="1100" spc="40">
                <a:latin typeface="Times New Roman"/>
                <a:cs typeface="Times New Roman"/>
              </a:rPr>
              <a:t>with </a:t>
            </a:r>
            <a:r>
              <a:rPr dirty="0" sz="1100" spc="20">
                <a:latin typeface="Times New Roman"/>
                <a:cs typeface="Times New Roman"/>
              </a:rPr>
              <a:t>my </a:t>
            </a:r>
            <a:r>
              <a:rPr dirty="0" sz="1100" spc="30">
                <a:latin typeface="Times New Roman"/>
                <a:cs typeface="Times New Roman"/>
              </a:rPr>
              <a:t>group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25">
                <a:latin typeface="Times New Roman"/>
                <a:cs typeface="Times New Roman"/>
              </a:rPr>
              <a:t>members.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75" b="1">
                <a:latin typeface="Times New Roman"/>
                <a:cs typeface="Times New Roman"/>
              </a:rPr>
              <a:t>2019 </a:t>
            </a:r>
            <a:r>
              <a:rPr dirty="0" sz="1100" spc="80" b="1">
                <a:latin typeface="Times New Roman"/>
                <a:cs typeface="Times New Roman"/>
              </a:rPr>
              <a:t>Chinese </a:t>
            </a:r>
            <a:r>
              <a:rPr dirty="0" sz="1100" spc="75" b="1">
                <a:latin typeface="Times New Roman"/>
                <a:cs typeface="Times New Roman"/>
              </a:rPr>
              <a:t>Astronomical </a:t>
            </a:r>
            <a:r>
              <a:rPr dirty="0" sz="1100" spc="80" b="1">
                <a:latin typeface="Times New Roman"/>
                <a:cs typeface="Times New Roman"/>
              </a:rPr>
              <a:t>Society </a:t>
            </a:r>
            <a:r>
              <a:rPr dirty="0" sz="1100" spc="75" b="1">
                <a:latin typeface="Times New Roman"/>
                <a:cs typeface="Times New Roman"/>
              </a:rPr>
              <a:t>Annual </a:t>
            </a:r>
            <a:r>
              <a:rPr dirty="0" sz="1100" spc="85" b="1">
                <a:latin typeface="Times New Roman"/>
                <a:cs typeface="Times New Roman"/>
              </a:rPr>
              <a:t>Academic</a:t>
            </a:r>
            <a:r>
              <a:rPr dirty="0" sz="1100" spc="204" b="1">
                <a:latin typeface="Times New Roman"/>
                <a:cs typeface="Times New Roman"/>
              </a:rPr>
              <a:t> </a:t>
            </a:r>
            <a:r>
              <a:rPr dirty="0" sz="1100" spc="50" b="1">
                <a:latin typeface="Times New Roman"/>
                <a:cs typeface="Times New Roman"/>
              </a:rPr>
              <a:t>Conference</a:t>
            </a:r>
            <a:r>
              <a:rPr dirty="0" sz="1100" spc="50" i="1">
                <a:latin typeface="Times New Roman"/>
                <a:cs typeface="Times New Roman"/>
              </a:rPr>
              <a:t>September </a:t>
            </a:r>
            <a:r>
              <a:rPr dirty="0" sz="1100" spc="5" i="1">
                <a:latin typeface="Times New Roman"/>
                <a:cs typeface="Times New Roman"/>
              </a:rPr>
              <a:t>2019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2020-02-08T10:09:03Z</dcterms:created>
  <dcterms:modified xsi:type="dcterms:W3CDTF">2020-02-08T10:09:03Z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2020-02-08T00:00:00Z</vt:filetime>
  </property>
  <property fmtid="{D5CDD505-2E9C-101B-9397-08002B2CF9AE}" pid="3" name="Creator">
    <vt:lpwstr>TeX</vt:lpwstr>
  </property>
  <property fmtid="{D5CDD505-2E9C-101B-9397-08002B2CF9AE}" pid="4" name="LastSaved">
    <vt:filetime>2020-02-08T00:00:00Z</vt:filetime>
  </property>
</Properties>
</file>